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10"/>
  </p:notesMasterIdLst>
  <p:handoutMasterIdLst>
    <p:handoutMasterId r:id="rId11"/>
  </p:handoutMasterIdLst>
  <p:sldIdLst>
    <p:sldId id="263" r:id="rId2"/>
    <p:sldId id="258" r:id="rId3"/>
    <p:sldId id="262" r:id="rId4"/>
    <p:sldId id="264" r:id="rId5"/>
    <p:sldId id="259" r:id="rId6"/>
    <p:sldId id="261" r:id="rId7"/>
    <p:sldId id="266" r:id="rId8"/>
    <p:sldId id="260" r:id="rId9"/>
  </p:sldIdLst>
  <p:sldSz cx="12192000" cy="6858000"/>
  <p:notesSz cx="6858000" cy="9144000"/>
  <p:defaultTextStyle>
    <a:defPPr rtl="0"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353"/>
    <a:srgbClr val="2F97DC"/>
    <a:srgbClr val="DBEBF8"/>
    <a:srgbClr val="374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397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E5AA53B-3EEE-4DE4-BB81-9044890C2946}" type="doc">
      <dgm:prSet loTypeId="urn:microsoft.com/office/officeart/2008/layout/VerticalCurvedList" loCatId="list" qsTypeId="urn:microsoft.com/office/officeart/2005/8/quickstyle/simple4" qsCatId="simple" csTypeId="urn:microsoft.com/office/officeart/2005/8/colors/accent2_2" csCatId="accent2" phldr="1"/>
      <dgm:spPr/>
      <dgm:t>
        <a:bodyPr rtlCol="0"/>
        <a:lstStyle/>
        <a:p>
          <a:pPr rtl="0"/>
          <a:endParaRPr lang="en-US"/>
        </a:p>
      </dgm:t>
    </dgm:pt>
    <dgm:pt modelId="{6750AC01-D39D-4F3A-9DC8-2A211EE986A2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Nube	</a:t>
          </a:r>
        </a:p>
      </dgm:t>
    </dgm:pt>
    <dgm:pt modelId="{720680DC-AAA4-4434-A582-60EBCC5BA355}" type="parTrans" cxnId="{0B5DAE5F-BCDC-4BF7-A6E7-CF856886A64D}">
      <dgm:prSet/>
      <dgm:spPr/>
      <dgm:t>
        <a:bodyPr rtlCol="0"/>
        <a:lstStyle/>
        <a:p>
          <a:pPr rtl="0"/>
          <a:endParaRPr lang="es-ES" noProof="0" dirty="0"/>
        </a:p>
      </dgm:t>
    </dgm:pt>
    <dgm:pt modelId="{CA077D98-8478-47EA-B6A9-99ACE60C64D4}" type="sibTrans" cxnId="{0B5DAE5F-BCDC-4BF7-A6E7-CF856886A64D}">
      <dgm:prSet/>
      <dgm:spPr/>
      <dgm:t>
        <a:bodyPr rtlCol="0"/>
        <a:lstStyle/>
        <a:p>
          <a:pPr rtl="0"/>
          <a:endParaRPr lang="es-ES" noProof="0" dirty="0"/>
        </a:p>
      </dgm:t>
    </dgm:pt>
    <dgm:pt modelId="{0BEF68B8-1228-47BB-83B5-7B9CD1E3F84E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Local</a:t>
          </a:r>
        </a:p>
      </dgm:t>
    </dgm:pt>
    <dgm:pt modelId="{ED3A4BC2-B75A-4952-A38B-A42B5995DF05}" type="parTrans" cxnId="{EDEF4F82-1237-4639-A0F7-385C1897CE66}">
      <dgm:prSet/>
      <dgm:spPr/>
      <dgm:t>
        <a:bodyPr rtlCol="0"/>
        <a:lstStyle/>
        <a:p>
          <a:pPr rtl="0"/>
          <a:endParaRPr lang="es-ES" noProof="0" dirty="0"/>
        </a:p>
      </dgm:t>
    </dgm:pt>
    <dgm:pt modelId="{FD949706-EDCC-4ADC-8EDF-8EDA49C92325}" type="sibTrans" cxnId="{EDEF4F82-1237-4639-A0F7-385C1897CE66}">
      <dgm:prSet/>
      <dgm:spPr/>
      <dgm:t>
        <a:bodyPr rtlCol="0"/>
        <a:lstStyle/>
        <a:p>
          <a:pPr rtl="0"/>
          <a:endParaRPr lang="es-ES" noProof="0" dirty="0"/>
        </a:p>
      </dgm:t>
    </dgm:pt>
    <dgm:pt modelId="{5605D28D-2CE6-4513-8566-952984E21E14}">
      <dgm:prSet phldrT="[Text]"/>
      <dgm:spPr/>
      <dgm:t>
        <a:bodyPr rtlCol="0"/>
        <a:lstStyle/>
        <a:p>
          <a:pPr rtl="0">
            <a:lnSpc>
              <a:spcPct val="100000"/>
            </a:lnSpc>
          </a:pPr>
          <a:r>
            <a:rPr lang="es-ES" noProof="0" dirty="0"/>
            <a:t>Híbrido</a:t>
          </a:r>
        </a:p>
      </dgm:t>
    </dgm:pt>
    <dgm:pt modelId="{EB15AB98-362B-4E70-A3DA-995FC3E8BA79}" type="parTrans" cxnId="{FAF3F884-F0CF-440F-8CB1-B7648AB1B138}">
      <dgm:prSet/>
      <dgm:spPr/>
      <dgm:t>
        <a:bodyPr rtlCol="0"/>
        <a:lstStyle/>
        <a:p>
          <a:pPr rtl="0"/>
          <a:endParaRPr lang="es-ES" noProof="0" dirty="0"/>
        </a:p>
      </dgm:t>
    </dgm:pt>
    <dgm:pt modelId="{823D1971-2C4D-4EC5-A874-2F463DE37109}" type="sibTrans" cxnId="{FAF3F884-F0CF-440F-8CB1-B7648AB1B138}">
      <dgm:prSet/>
      <dgm:spPr/>
      <dgm:t>
        <a:bodyPr rtlCol="0"/>
        <a:lstStyle/>
        <a:p>
          <a:pPr rtl="0"/>
          <a:endParaRPr lang="es-ES" noProof="0" dirty="0"/>
        </a:p>
      </dgm:t>
    </dgm:pt>
    <dgm:pt modelId="{57806726-6E60-4ACC-9C1C-7DF9CC365A10}" type="pres">
      <dgm:prSet presAssocID="{7E5AA53B-3EEE-4DE4-BB81-9044890C2946}" presName="Name0" presStyleCnt="0">
        <dgm:presLayoutVars>
          <dgm:chMax val="7"/>
          <dgm:chPref val="7"/>
          <dgm:dir/>
        </dgm:presLayoutVars>
      </dgm:prSet>
      <dgm:spPr/>
    </dgm:pt>
    <dgm:pt modelId="{90561C55-3C6E-4D53-85E1-2C50BCDDA392}" type="pres">
      <dgm:prSet presAssocID="{7E5AA53B-3EEE-4DE4-BB81-9044890C2946}" presName="Name1" presStyleCnt="0"/>
      <dgm:spPr/>
    </dgm:pt>
    <dgm:pt modelId="{B6CD42EC-5AD4-4004-AE5B-47EDA668DAA8}" type="pres">
      <dgm:prSet presAssocID="{7E5AA53B-3EEE-4DE4-BB81-9044890C2946}" presName="cycle" presStyleCnt="0"/>
      <dgm:spPr/>
    </dgm:pt>
    <dgm:pt modelId="{963B8EE3-40CC-4A0A-B420-D0BF920973CE}" type="pres">
      <dgm:prSet presAssocID="{7E5AA53B-3EEE-4DE4-BB81-9044890C2946}" presName="srcNode" presStyleLbl="node1" presStyleIdx="0" presStyleCnt="3"/>
      <dgm:spPr/>
    </dgm:pt>
    <dgm:pt modelId="{D79B43FC-100B-4A0D-A4D5-0D2D04B99064}" type="pres">
      <dgm:prSet presAssocID="{7E5AA53B-3EEE-4DE4-BB81-9044890C2946}" presName="conn" presStyleLbl="parChTrans1D2" presStyleIdx="0" presStyleCnt="1"/>
      <dgm:spPr/>
    </dgm:pt>
    <dgm:pt modelId="{3CAD8DA1-8D53-445C-ACE8-D8449E4F0F55}" type="pres">
      <dgm:prSet presAssocID="{7E5AA53B-3EEE-4DE4-BB81-9044890C2946}" presName="extraNode" presStyleLbl="node1" presStyleIdx="0" presStyleCnt="3"/>
      <dgm:spPr/>
    </dgm:pt>
    <dgm:pt modelId="{429CABD1-4116-474B-81BF-735E2CA9DD00}" type="pres">
      <dgm:prSet presAssocID="{7E5AA53B-3EEE-4DE4-BB81-9044890C2946}" presName="dstNode" presStyleLbl="node1" presStyleIdx="0" presStyleCnt="3"/>
      <dgm:spPr/>
    </dgm:pt>
    <dgm:pt modelId="{58319267-C71E-43C9-94E1-827D0616C7A7}" type="pres">
      <dgm:prSet presAssocID="{6750AC01-D39D-4F3A-9DC8-2A211EE986A2}" presName="text_1" presStyleLbl="node1" presStyleIdx="0" presStyleCnt="3">
        <dgm:presLayoutVars>
          <dgm:bulletEnabled val="1"/>
        </dgm:presLayoutVars>
      </dgm:prSet>
      <dgm:spPr/>
    </dgm:pt>
    <dgm:pt modelId="{79F9B8A9-2412-4B74-84A9-69422DB81CDC}" type="pres">
      <dgm:prSet presAssocID="{6750AC01-D39D-4F3A-9DC8-2A211EE986A2}" presName="accent_1" presStyleCnt="0"/>
      <dgm:spPr/>
    </dgm:pt>
    <dgm:pt modelId="{07CB3071-D555-47DA-A36A-69EB91531FD8}" type="pres">
      <dgm:prSet presAssocID="{6750AC01-D39D-4F3A-9DC8-2A211EE986A2}" presName="accentRepeatNode" presStyleLbl="solidFgAcc1" presStyleIdx="0" presStyleCnt="3"/>
      <dgm:spPr/>
    </dgm:pt>
    <dgm:pt modelId="{95DE6538-27BD-44AF-A1A8-CA8F6B10FDD2}" type="pres">
      <dgm:prSet presAssocID="{0BEF68B8-1228-47BB-83B5-7B9CD1E3F84E}" presName="text_2" presStyleLbl="node1" presStyleIdx="1" presStyleCnt="3">
        <dgm:presLayoutVars>
          <dgm:bulletEnabled val="1"/>
        </dgm:presLayoutVars>
      </dgm:prSet>
      <dgm:spPr/>
    </dgm:pt>
    <dgm:pt modelId="{312BDEE8-85BD-4F02-B35B-2CC8E701C98B}" type="pres">
      <dgm:prSet presAssocID="{0BEF68B8-1228-47BB-83B5-7B9CD1E3F84E}" presName="accent_2" presStyleCnt="0"/>
      <dgm:spPr/>
    </dgm:pt>
    <dgm:pt modelId="{3F8116AC-FAC3-4E95-9865-93CCFEB191B9}" type="pres">
      <dgm:prSet presAssocID="{0BEF68B8-1228-47BB-83B5-7B9CD1E3F84E}" presName="accentRepeatNode" presStyleLbl="solidFgAcc1" presStyleIdx="1" presStyleCnt="3"/>
      <dgm:spPr/>
    </dgm:pt>
    <dgm:pt modelId="{E131CE4A-9776-44F4-BC03-867682E21374}" type="pres">
      <dgm:prSet presAssocID="{5605D28D-2CE6-4513-8566-952984E21E14}" presName="text_3" presStyleLbl="node1" presStyleIdx="2" presStyleCnt="3">
        <dgm:presLayoutVars>
          <dgm:bulletEnabled val="1"/>
        </dgm:presLayoutVars>
      </dgm:prSet>
      <dgm:spPr/>
    </dgm:pt>
    <dgm:pt modelId="{AC9A216A-8375-48F9-A4E6-8E0B64C0209B}" type="pres">
      <dgm:prSet presAssocID="{5605D28D-2CE6-4513-8566-952984E21E14}" presName="accent_3" presStyleCnt="0"/>
      <dgm:spPr/>
    </dgm:pt>
    <dgm:pt modelId="{A965097E-32F1-4AB8-8C4E-2814A7596B2F}" type="pres">
      <dgm:prSet presAssocID="{5605D28D-2CE6-4513-8566-952984E21E14}" presName="accentRepeatNode" presStyleLbl="solidFgAcc1" presStyleIdx="2" presStyleCnt="3"/>
      <dgm:spPr/>
    </dgm:pt>
  </dgm:ptLst>
  <dgm:cxnLst>
    <dgm:cxn modelId="{A11E3B12-1828-45A7-86C3-BB85832DF84D}" type="presOf" srcId="{CA077D98-8478-47EA-B6A9-99ACE60C64D4}" destId="{D79B43FC-100B-4A0D-A4D5-0D2D04B99064}" srcOrd="0" destOrd="0" presId="urn:microsoft.com/office/officeart/2008/layout/VerticalCurvedList"/>
    <dgm:cxn modelId="{0B5DAE5F-BCDC-4BF7-A6E7-CF856886A64D}" srcId="{7E5AA53B-3EEE-4DE4-BB81-9044890C2946}" destId="{6750AC01-D39D-4F3A-9DC8-2A211EE986A2}" srcOrd="0" destOrd="0" parTransId="{720680DC-AAA4-4434-A582-60EBCC5BA355}" sibTransId="{CA077D98-8478-47EA-B6A9-99ACE60C64D4}"/>
    <dgm:cxn modelId="{29DA474E-5DFA-4C66-882F-319C49ABBB19}" type="presOf" srcId="{6750AC01-D39D-4F3A-9DC8-2A211EE986A2}" destId="{58319267-C71E-43C9-94E1-827D0616C7A7}" srcOrd="0" destOrd="0" presId="urn:microsoft.com/office/officeart/2008/layout/VerticalCurvedList"/>
    <dgm:cxn modelId="{7084AA77-BACB-46CB-AE4A-77B62D3ED1AF}" type="presOf" srcId="{5605D28D-2CE6-4513-8566-952984E21E14}" destId="{E131CE4A-9776-44F4-BC03-867682E21374}" srcOrd="0" destOrd="0" presId="urn:microsoft.com/office/officeart/2008/layout/VerticalCurvedList"/>
    <dgm:cxn modelId="{EDEF4F82-1237-4639-A0F7-385C1897CE66}" srcId="{7E5AA53B-3EEE-4DE4-BB81-9044890C2946}" destId="{0BEF68B8-1228-47BB-83B5-7B9CD1E3F84E}" srcOrd="1" destOrd="0" parTransId="{ED3A4BC2-B75A-4952-A38B-A42B5995DF05}" sibTransId="{FD949706-EDCC-4ADC-8EDF-8EDA49C92325}"/>
    <dgm:cxn modelId="{FAF3F884-F0CF-440F-8CB1-B7648AB1B138}" srcId="{7E5AA53B-3EEE-4DE4-BB81-9044890C2946}" destId="{5605D28D-2CE6-4513-8566-952984E21E14}" srcOrd="2" destOrd="0" parTransId="{EB15AB98-362B-4E70-A3DA-995FC3E8BA79}" sibTransId="{823D1971-2C4D-4EC5-A874-2F463DE37109}"/>
    <dgm:cxn modelId="{4F65CC8F-B5A8-40BE-A32B-05862B543D6A}" type="presOf" srcId="{7E5AA53B-3EEE-4DE4-BB81-9044890C2946}" destId="{57806726-6E60-4ACC-9C1C-7DF9CC365A10}" srcOrd="0" destOrd="0" presId="urn:microsoft.com/office/officeart/2008/layout/VerticalCurvedList"/>
    <dgm:cxn modelId="{4A378892-5CCC-4F0D-8A38-4BEAECF30F24}" type="presOf" srcId="{0BEF68B8-1228-47BB-83B5-7B9CD1E3F84E}" destId="{95DE6538-27BD-44AF-A1A8-CA8F6B10FDD2}" srcOrd="0" destOrd="0" presId="urn:microsoft.com/office/officeart/2008/layout/VerticalCurvedList"/>
    <dgm:cxn modelId="{4E25B52E-70EF-4A0F-B410-0B49263AF380}" type="presParOf" srcId="{57806726-6E60-4ACC-9C1C-7DF9CC365A10}" destId="{90561C55-3C6E-4D53-85E1-2C50BCDDA392}" srcOrd="0" destOrd="0" presId="urn:microsoft.com/office/officeart/2008/layout/VerticalCurvedList"/>
    <dgm:cxn modelId="{2B3DD9E4-EC9C-4B92-B380-F89BF82E7CF3}" type="presParOf" srcId="{90561C55-3C6E-4D53-85E1-2C50BCDDA392}" destId="{B6CD42EC-5AD4-4004-AE5B-47EDA668DAA8}" srcOrd="0" destOrd="0" presId="urn:microsoft.com/office/officeart/2008/layout/VerticalCurvedList"/>
    <dgm:cxn modelId="{EA357085-80A4-4D1D-9BD2-56B1E9A721FB}" type="presParOf" srcId="{B6CD42EC-5AD4-4004-AE5B-47EDA668DAA8}" destId="{963B8EE3-40CC-4A0A-B420-D0BF920973CE}" srcOrd="0" destOrd="0" presId="urn:microsoft.com/office/officeart/2008/layout/VerticalCurvedList"/>
    <dgm:cxn modelId="{F175C6D0-411C-40FD-A19B-860D49F42061}" type="presParOf" srcId="{B6CD42EC-5AD4-4004-AE5B-47EDA668DAA8}" destId="{D79B43FC-100B-4A0D-A4D5-0D2D04B99064}" srcOrd="1" destOrd="0" presId="urn:microsoft.com/office/officeart/2008/layout/VerticalCurvedList"/>
    <dgm:cxn modelId="{794BB944-68C0-47A5-9792-652802EB36AC}" type="presParOf" srcId="{B6CD42EC-5AD4-4004-AE5B-47EDA668DAA8}" destId="{3CAD8DA1-8D53-445C-ACE8-D8449E4F0F55}" srcOrd="2" destOrd="0" presId="urn:microsoft.com/office/officeart/2008/layout/VerticalCurvedList"/>
    <dgm:cxn modelId="{B8CC75C4-3D1A-49E7-80D2-915668C1368C}" type="presParOf" srcId="{B6CD42EC-5AD4-4004-AE5B-47EDA668DAA8}" destId="{429CABD1-4116-474B-81BF-735E2CA9DD00}" srcOrd="3" destOrd="0" presId="urn:microsoft.com/office/officeart/2008/layout/VerticalCurvedList"/>
    <dgm:cxn modelId="{28110BB8-F33F-498C-9A75-98364B05EFA5}" type="presParOf" srcId="{90561C55-3C6E-4D53-85E1-2C50BCDDA392}" destId="{58319267-C71E-43C9-94E1-827D0616C7A7}" srcOrd="1" destOrd="0" presId="urn:microsoft.com/office/officeart/2008/layout/VerticalCurvedList"/>
    <dgm:cxn modelId="{3866F6C9-5521-48F2-B6C3-40C9896E1605}" type="presParOf" srcId="{90561C55-3C6E-4D53-85E1-2C50BCDDA392}" destId="{79F9B8A9-2412-4B74-84A9-69422DB81CDC}" srcOrd="2" destOrd="0" presId="urn:microsoft.com/office/officeart/2008/layout/VerticalCurvedList"/>
    <dgm:cxn modelId="{D2205A4F-BB7A-4399-BC2F-78E18EC6EAFE}" type="presParOf" srcId="{79F9B8A9-2412-4B74-84A9-69422DB81CDC}" destId="{07CB3071-D555-47DA-A36A-69EB91531FD8}" srcOrd="0" destOrd="0" presId="urn:microsoft.com/office/officeart/2008/layout/VerticalCurvedList"/>
    <dgm:cxn modelId="{602753E6-8A03-492B-861A-6B9532B5AA28}" type="presParOf" srcId="{90561C55-3C6E-4D53-85E1-2C50BCDDA392}" destId="{95DE6538-27BD-44AF-A1A8-CA8F6B10FDD2}" srcOrd="3" destOrd="0" presId="urn:microsoft.com/office/officeart/2008/layout/VerticalCurvedList"/>
    <dgm:cxn modelId="{AEC540A3-E86A-4075-8BE4-263F4AFF4EA1}" type="presParOf" srcId="{90561C55-3C6E-4D53-85E1-2C50BCDDA392}" destId="{312BDEE8-85BD-4F02-B35B-2CC8E701C98B}" srcOrd="4" destOrd="0" presId="urn:microsoft.com/office/officeart/2008/layout/VerticalCurvedList"/>
    <dgm:cxn modelId="{CD5D1014-B7CB-4B47-9A02-5FBF90928A73}" type="presParOf" srcId="{312BDEE8-85BD-4F02-B35B-2CC8E701C98B}" destId="{3F8116AC-FAC3-4E95-9865-93CCFEB191B9}" srcOrd="0" destOrd="0" presId="urn:microsoft.com/office/officeart/2008/layout/VerticalCurvedList"/>
    <dgm:cxn modelId="{987EB7C0-CA3E-4874-85E0-01E9060A2D35}" type="presParOf" srcId="{90561C55-3C6E-4D53-85E1-2C50BCDDA392}" destId="{E131CE4A-9776-44F4-BC03-867682E21374}" srcOrd="5" destOrd="0" presId="urn:microsoft.com/office/officeart/2008/layout/VerticalCurvedList"/>
    <dgm:cxn modelId="{91E55363-8DCA-455E-A203-06A9410994CB}" type="presParOf" srcId="{90561C55-3C6E-4D53-85E1-2C50BCDDA392}" destId="{AC9A216A-8375-48F9-A4E6-8E0B64C0209B}" srcOrd="6" destOrd="0" presId="urn:microsoft.com/office/officeart/2008/layout/VerticalCurvedList"/>
    <dgm:cxn modelId="{D866D586-1293-4049-B6E3-B467C1D5ED64}" type="presParOf" srcId="{AC9A216A-8375-48F9-A4E6-8E0B64C0209B}" destId="{A965097E-32F1-4AB8-8C4E-2814A7596B2F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9B43FC-100B-4A0D-A4D5-0D2D04B99064}">
      <dsp:nvSpPr>
        <dsp:cNvPr id="0" name=""/>
        <dsp:cNvSpPr/>
      </dsp:nvSpPr>
      <dsp:spPr>
        <a:xfrm>
          <a:off x="-4028574" y="-618397"/>
          <a:ext cx="4800732" cy="4800732"/>
        </a:xfrm>
        <a:prstGeom prst="blockArc">
          <a:avLst>
            <a:gd name="adj1" fmla="val 18900000"/>
            <a:gd name="adj2" fmla="val 2700000"/>
            <a:gd name="adj3" fmla="val 450"/>
          </a:avLst>
        </a:prstGeom>
        <a:noFill/>
        <a:ln w="12700" cap="rnd" cmpd="sng" algn="ctr">
          <a:solidFill>
            <a:schemeClr val="accent2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8319267-C71E-43C9-94E1-827D0616C7A7}">
      <dsp:nvSpPr>
        <dsp:cNvPr id="0" name=""/>
        <dsp:cNvSpPr/>
      </dsp:nvSpPr>
      <dsp:spPr>
        <a:xfrm>
          <a:off x="496568" y="356393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500" kern="1200" noProof="0" dirty="0"/>
            <a:t>Nube	</a:t>
          </a:r>
        </a:p>
      </dsp:txBody>
      <dsp:txXfrm>
        <a:off x="496568" y="356393"/>
        <a:ext cx="6310391" cy="712787"/>
      </dsp:txXfrm>
    </dsp:sp>
    <dsp:sp modelId="{07CB3071-D555-47DA-A36A-69EB91531FD8}">
      <dsp:nvSpPr>
        <dsp:cNvPr id="0" name=""/>
        <dsp:cNvSpPr/>
      </dsp:nvSpPr>
      <dsp:spPr>
        <a:xfrm>
          <a:off x="51076" y="267295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5DE6538-27BD-44AF-A1A8-CA8F6B10FDD2}">
      <dsp:nvSpPr>
        <dsp:cNvPr id="0" name=""/>
        <dsp:cNvSpPr/>
      </dsp:nvSpPr>
      <dsp:spPr>
        <a:xfrm>
          <a:off x="755666" y="1425575"/>
          <a:ext cx="6051292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500" kern="1200" noProof="0" dirty="0"/>
            <a:t>Local</a:t>
          </a:r>
        </a:p>
      </dsp:txBody>
      <dsp:txXfrm>
        <a:off x="755666" y="1425575"/>
        <a:ext cx="6051292" cy="712787"/>
      </dsp:txXfrm>
    </dsp:sp>
    <dsp:sp modelId="{3F8116AC-FAC3-4E95-9865-93CCFEB191B9}">
      <dsp:nvSpPr>
        <dsp:cNvPr id="0" name=""/>
        <dsp:cNvSpPr/>
      </dsp:nvSpPr>
      <dsp:spPr>
        <a:xfrm>
          <a:off x="310174" y="1336476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131CE4A-9776-44F4-BC03-867682E21374}">
      <dsp:nvSpPr>
        <dsp:cNvPr id="0" name=""/>
        <dsp:cNvSpPr/>
      </dsp:nvSpPr>
      <dsp:spPr>
        <a:xfrm>
          <a:off x="496568" y="2494756"/>
          <a:ext cx="6310391" cy="712787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8000"/>
                <a:lumMod val="110000"/>
              </a:schemeClr>
            </a:gs>
            <a:gs pos="84000">
              <a:schemeClr val="accent2">
                <a:hueOff val="0"/>
                <a:satOff val="0"/>
                <a:lumOff val="0"/>
                <a:alphaOff val="0"/>
                <a:shade val="90000"/>
                <a:lumMod val="88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5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565775" tIns="88900" rIns="88900" bIns="88900" numCol="1" spcCol="1270" rtlCol="0" anchor="ctr" anchorCtr="0">
          <a:noAutofit/>
        </a:bodyPr>
        <a:lstStyle/>
        <a:p>
          <a:pPr marL="0" lvl="0" indent="0" algn="l" defTabSz="1555750" rtl="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3500" kern="1200" noProof="0" dirty="0"/>
            <a:t>Híbrido</a:t>
          </a:r>
        </a:p>
      </dsp:txBody>
      <dsp:txXfrm>
        <a:off x="496568" y="2494756"/>
        <a:ext cx="6310391" cy="712787"/>
      </dsp:txXfrm>
    </dsp:sp>
    <dsp:sp modelId="{A965097E-32F1-4AB8-8C4E-2814A7596B2F}">
      <dsp:nvSpPr>
        <dsp:cNvPr id="0" name=""/>
        <dsp:cNvSpPr/>
      </dsp:nvSpPr>
      <dsp:spPr>
        <a:xfrm>
          <a:off x="51076" y="2405658"/>
          <a:ext cx="890984" cy="890984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rnd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C62B80FE-187A-4085-BD71-F0873FF7BD68}" type="datetime1">
              <a:rPr lang="es-ES" smtClean="0"/>
              <a:t>13/04/2026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D59A2BD-4571-4110-BB3E-5D004DE434FA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es-ES" noProof="0"/>
              <a:t>Haga clic para modificar los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C6B3AB32-59DF-41F1-9618-EDFBF504962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829663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05115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31927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es-ES" noProof="0"/>
              <a:t>Haga clic para editar el estilo de subtítulo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F409C0D2-15DE-4FAC-845B-C48979FFAEB9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670FF6-52DC-429F-9C56-6A1BF295232E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5E27922-51B6-4B96-9C28-2CD2060AE75A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3ECF5D1-1C98-40FD-9D65-EED7644802B9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á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556C746-EB55-4634-AD93-A9FF2473885C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9051F13-F75A-440F-BED7-E2004746A95F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7" name="Rectá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7A2E7D-666A-420B-9042-959E1D47E21D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403F12F-0E67-4CAB-8DFD-26DCD4A99D59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ley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imagen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es-ES" noProof="0"/>
              <a:t>Haga clic en el icono para agregar una imagen</a:t>
            </a:r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es-ES" noProof="0"/>
              <a:t>Editar estilos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09DA8C-1A59-4B91-B9EA-509377CD0E23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8CF9F163-DD03-4353-882E-CE0F9A80F1C3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á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posición de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8D2FF54C-EA2F-453C-857C-5C9ADB86CB43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A3DF7BF2-42BB-439B-88AA-F60334FF1291}" type="datetime1">
              <a:rPr lang="es-ES" noProof="0" smtClean="0"/>
              <a:t>13/04/2026</a:t>
            </a:fld>
            <a:endParaRPr lang="es-ES" noProof="0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es-ES" noProof="0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es-ES" noProof="0" smtClean="0"/>
              <a:pPr rtl="0"/>
              <a:t>‹Nº›</a:t>
            </a:fld>
            <a:endParaRPr lang="es-ES" noProof="0"/>
          </a:p>
        </p:txBody>
      </p:sp>
      <p:sp>
        <p:nvSpPr>
          <p:cNvPr id="9" name="Rectá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10" name="Rectá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sp>
        <p:nvSpPr>
          <p:cNvPr id="11" name="Rectá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96FAEE86-2832-FDF2-021C-A00143C595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1379" r="1" b="1287"/>
          <a:stretch>
            <a:fillRect/>
          </a:stretch>
        </p:blipFill>
        <p:spPr>
          <a:xfrm>
            <a:off x="120650" y="620713"/>
            <a:ext cx="11950700" cy="6169025"/>
          </a:xfrm>
          <a:prstGeom prst="rect">
            <a:avLst/>
          </a:prstGeom>
          <a:noFill/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D33C012F-F07B-36BC-5AA1-0A6DDE5BF936}"/>
              </a:ext>
            </a:extLst>
          </p:cNvPr>
          <p:cNvSpPr/>
          <p:nvPr/>
        </p:nvSpPr>
        <p:spPr>
          <a:xfrm>
            <a:off x="236706" y="4035966"/>
            <a:ext cx="11834644" cy="1569660"/>
          </a:xfrm>
          <a:prstGeom prst="rect">
            <a:avLst/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Subastas Públicas de Inmuebles en España</a:t>
            </a:r>
          </a:p>
          <a:p>
            <a:pPr algn="ctr"/>
            <a:r>
              <a:rPr lang="es-ES" sz="48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¿Una oportunidad real de compra?</a:t>
            </a:r>
          </a:p>
        </p:txBody>
      </p:sp>
    </p:spTree>
    <p:extLst>
      <p:ext uri="{BB962C8B-B14F-4D97-AF65-F5344CB8AC3E}">
        <p14:creationId xmlns:p14="http://schemas.microsoft.com/office/powerpoint/2010/main" val="38919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1633EB-7DCB-4DDC-80AF-C885A3EE1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562688"/>
            <a:ext cx="11029616" cy="1118294"/>
          </a:xfrm>
        </p:spPr>
        <p:txBody>
          <a:bodyPr rtlCol="0">
            <a:normAutofit/>
          </a:bodyPr>
          <a:lstStyle/>
          <a:p>
            <a:pPr algn="ctr"/>
            <a:r>
              <a:rPr lang="es-ES" dirty="0"/>
              <a:t>“inmuebles subastados en el portal del </a:t>
            </a:r>
            <a:r>
              <a:rPr lang="es-ES" dirty="0" err="1"/>
              <a:t>boe</a:t>
            </a:r>
            <a:r>
              <a:rPr lang="es-ES" dirty="0"/>
              <a:t> salen a un precio inferior al 50% de su valor de mercado"</a:t>
            </a:r>
            <a:endParaRPr lang="es-ES" sz="24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088ACC09-371A-2F4E-6BE0-CC57F3CEAE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6132" y="1955259"/>
            <a:ext cx="4834243" cy="475682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CF4605B-7A12-1117-A0A3-1FCDBE86987F}"/>
              </a:ext>
            </a:extLst>
          </p:cNvPr>
          <p:cNvSpPr txBox="1"/>
          <p:nvPr/>
        </p:nvSpPr>
        <p:spPr>
          <a:xfrm>
            <a:off x="1374031" y="4045270"/>
            <a:ext cx="24578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De los inmuebles subastados en el portal del BOE sale por debajo del 50% de su tasación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9763C8F-A4DB-893C-370A-47F2CB4E6E84}"/>
              </a:ext>
            </a:extLst>
          </p:cNvPr>
          <p:cNvSpPr txBox="1"/>
          <p:nvPr/>
        </p:nvSpPr>
        <p:spPr>
          <a:xfrm>
            <a:off x="1044085" y="2535491"/>
            <a:ext cx="348204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8800" b="1" dirty="0">
                <a:solidFill>
                  <a:schemeClr val="accent1"/>
                </a:solidFill>
              </a:rPr>
              <a:t>89.4 %</a:t>
            </a: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2875CC5A-98BD-DBC8-B313-303B0C0BA2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3626" y="5062607"/>
            <a:ext cx="1293779" cy="1293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6075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Diagrama de flujo: conector fuera de página 26">
            <a:extLst>
              <a:ext uri="{FF2B5EF4-FFF2-40B4-BE49-F238E27FC236}">
                <a16:creationId xmlns:a16="http://schemas.microsoft.com/office/drawing/2014/main" id="{020214AB-311E-FDF9-CC99-3A1E605FD73C}"/>
              </a:ext>
            </a:extLst>
          </p:cNvPr>
          <p:cNvSpPr/>
          <p:nvPr/>
        </p:nvSpPr>
        <p:spPr>
          <a:xfrm rot="16200000">
            <a:off x="344686" y="2302949"/>
            <a:ext cx="3389883" cy="4079253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69CE42D-78E0-F3D7-C899-D94338CCBC84}"/>
              </a:ext>
            </a:extLst>
          </p:cNvPr>
          <p:cNvSpPr/>
          <p:nvPr/>
        </p:nvSpPr>
        <p:spPr>
          <a:xfrm>
            <a:off x="493643" y="820483"/>
            <a:ext cx="11234531" cy="120032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36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Analizamos 498 subastas reales del Portal del BOE </a:t>
            </a:r>
          </a:p>
          <a:p>
            <a:pPr algn="ctr"/>
            <a:r>
              <a:rPr lang="es-ES" sz="36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entre octubre y diciembre de 2025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F707412-45C7-80D2-CC9A-31E18F68282D}"/>
              </a:ext>
            </a:extLst>
          </p:cNvPr>
          <p:cNvSpPr txBox="1"/>
          <p:nvPr/>
        </p:nvSpPr>
        <p:spPr>
          <a:xfrm>
            <a:off x="482299" y="2699966"/>
            <a:ext cx="8210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chemeClr val="bg1"/>
                </a:solidFill>
              </a:rPr>
              <a:t>Fuente</a:t>
            </a:r>
            <a:r>
              <a:rPr lang="es-ES" sz="1400" b="1" dirty="0">
                <a:solidFill>
                  <a:srgbClr val="374959"/>
                </a:solidFill>
              </a:rPr>
              <a:t>: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71A6493-83AF-D3DB-3AB7-8A3B6F67BCA2}"/>
              </a:ext>
            </a:extLst>
          </p:cNvPr>
          <p:cNvSpPr txBox="1"/>
          <p:nvPr/>
        </p:nvSpPr>
        <p:spPr>
          <a:xfrm>
            <a:off x="396837" y="3354388"/>
            <a:ext cx="8819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chemeClr val="bg1"/>
                </a:solidFill>
              </a:rPr>
              <a:t>Método: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F6DFE94-E08F-2A78-BBED-4DBAFF60EC7B}"/>
              </a:ext>
            </a:extLst>
          </p:cNvPr>
          <p:cNvSpPr txBox="1"/>
          <p:nvPr/>
        </p:nvSpPr>
        <p:spPr>
          <a:xfrm>
            <a:off x="396837" y="3532764"/>
            <a:ext cx="16332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chemeClr val="accent5"/>
                </a:solidFill>
              </a:rPr>
              <a:t>Web </a:t>
            </a:r>
            <a:r>
              <a:rPr lang="es-ES" sz="1400" dirty="0" err="1">
                <a:solidFill>
                  <a:schemeClr val="accent5"/>
                </a:solidFill>
              </a:rPr>
              <a:t>scraping</a:t>
            </a:r>
            <a:endParaRPr lang="es-ES" sz="1400" dirty="0">
              <a:solidFill>
                <a:schemeClr val="accent5"/>
              </a:solidFill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0BFD498F-51D8-BC68-A3B2-C2974DA18499}"/>
              </a:ext>
            </a:extLst>
          </p:cNvPr>
          <p:cNvSpPr txBox="1"/>
          <p:nvPr/>
        </p:nvSpPr>
        <p:spPr>
          <a:xfrm>
            <a:off x="388364" y="4033844"/>
            <a:ext cx="10089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chemeClr val="bg1"/>
                </a:solidFill>
              </a:rPr>
              <a:t>Registros</a:t>
            </a:r>
            <a:r>
              <a:rPr lang="es-ES" sz="1400" b="1" dirty="0">
                <a:solidFill>
                  <a:srgbClr val="374959"/>
                </a:solidFill>
              </a:rPr>
              <a:t>: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5D16123-45FC-5DBE-C808-591693D5D5F5}"/>
              </a:ext>
            </a:extLst>
          </p:cNvPr>
          <p:cNvSpPr txBox="1"/>
          <p:nvPr/>
        </p:nvSpPr>
        <p:spPr>
          <a:xfrm>
            <a:off x="376140" y="4273314"/>
            <a:ext cx="22674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chemeClr val="accent5"/>
                </a:solidFill>
              </a:rPr>
              <a:t>498 subastas válidas de 4,726 totales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42EE25F-893C-437E-EB7C-E1EC8010EC9F}"/>
              </a:ext>
            </a:extLst>
          </p:cNvPr>
          <p:cNvSpPr txBox="1"/>
          <p:nvPr/>
        </p:nvSpPr>
        <p:spPr>
          <a:xfrm>
            <a:off x="351943" y="4992524"/>
            <a:ext cx="12474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chemeClr val="bg1"/>
                </a:solidFill>
              </a:rPr>
              <a:t>Organismos</a:t>
            </a:r>
            <a:r>
              <a:rPr lang="es-ES" sz="1400" b="1" dirty="0">
                <a:solidFill>
                  <a:srgbClr val="374959"/>
                </a:solidFill>
              </a:rPr>
              <a:t>: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1D80970B-176E-E9C9-ED77-B95964A43659}"/>
              </a:ext>
            </a:extLst>
          </p:cNvPr>
          <p:cNvSpPr txBox="1"/>
          <p:nvPr/>
        </p:nvSpPr>
        <p:spPr>
          <a:xfrm>
            <a:off x="459356" y="2934136"/>
            <a:ext cx="25566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chemeClr val="accent5"/>
                </a:solidFill>
              </a:rPr>
              <a:t>Boletín oficial del Estado</a:t>
            </a:r>
          </a:p>
        </p:txBody>
      </p:sp>
      <p:pic>
        <p:nvPicPr>
          <p:cNvPr id="24" name="Imagen 23">
            <a:extLst>
              <a:ext uri="{FF2B5EF4-FFF2-40B4-BE49-F238E27FC236}">
                <a16:creationId xmlns:a16="http://schemas.microsoft.com/office/drawing/2014/main" id="{05412F38-0B39-5D70-548B-17A6230D3A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900" t="7589"/>
          <a:stretch>
            <a:fillRect/>
          </a:stretch>
        </p:blipFill>
        <p:spPr>
          <a:xfrm>
            <a:off x="4258525" y="2386670"/>
            <a:ext cx="7536637" cy="3784030"/>
          </a:xfrm>
          <a:prstGeom prst="rect">
            <a:avLst/>
          </a:prstGeom>
          <a:noFill/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9C03E37A-1448-D63A-05D3-8705AE508EAD}"/>
              </a:ext>
            </a:extLst>
          </p:cNvPr>
          <p:cNvSpPr txBox="1"/>
          <p:nvPr/>
        </p:nvSpPr>
        <p:spPr>
          <a:xfrm>
            <a:off x="376141" y="5228620"/>
            <a:ext cx="22674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chemeClr val="accent5"/>
                </a:solidFill>
              </a:rPr>
              <a:t>AEAT</a:t>
            </a:r>
          </a:p>
          <a:p>
            <a:r>
              <a:rPr lang="es-ES" sz="1400" dirty="0">
                <a:solidFill>
                  <a:schemeClr val="accent5"/>
                </a:solidFill>
              </a:rPr>
              <a:t>Recaudación Tributaria</a:t>
            </a:r>
          </a:p>
        </p:txBody>
      </p:sp>
      <p:sp>
        <p:nvSpPr>
          <p:cNvPr id="28" name="Elipse 27">
            <a:extLst>
              <a:ext uri="{FF2B5EF4-FFF2-40B4-BE49-F238E27FC236}">
                <a16:creationId xmlns:a16="http://schemas.microsoft.com/office/drawing/2014/main" id="{517123B6-D0D2-C59F-4B05-3B8BE20BAD85}"/>
              </a:ext>
            </a:extLst>
          </p:cNvPr>
          <p:cNvSpPr/>
          <p:nvPr/>
        </p:nvSpPr>
        <p:spPr>
          <a:xfrm>
            <a:off x="2304701" y="3528329"/>
            <a:ext cx="1499951" cy="1484248"/>
          </a:xfrm>
          <a:prstGeom prst="ellipse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29" name="Picture 8">
            <a:extLst>
              <a:ext uri="{FF2B5EF4-FFF2-40B4-BE49-F238E27FC236}">
                <a16:creationId xmlns:a16="http://schemas.microsoft.com/office/drawing/2014/main" id="{AF124BFC-BDA6-7AE2-103F-3F44A23A09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8569" y="3686652"/>
            <a:ext cx="1592214" cy="1194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93556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73C3BA-57F1-F922-557B-C2F15B9BF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BCD0397-D6D4-7425-A793-540A94E17DE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A963B9A-DE95-1EBF-534D-4FB77C2E60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16" t="11927"/>
          <a:stretch>
            <a:fillRect/>
          </a:stretch>
        </p:blipFill>
        <p:spPr>
          <a:xfrm>
            <a:off x="2926584" y="1809345"/>
            <a:ext cx="9008941" cy="4316891"/>
          </a:xfrm>
          <a:prstGeom prst="rect">
            <a:avLst/>
          </a:prstGeom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D2CE1B6B-6493-73F0-D823-3ECBA2875C49}"/>
              </a:ext>
            </a:extLst>
          </p:cNvPr>
          <p:cNvSpPr txBox="1"/>
          <p:nvPr/>
        </p:nvSpPr>
        <p:spPr>
          <a:xfrm>
            <a:off x="1250851" y="731764"/>
            <a:ext cx="22204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Descuento mínimo legal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A6AC2E4-1559-0B02-BA5F-A6CD207A068D}"/>
              </a:ext>
            </a:extLst>
          </p:cNvPr>
          <p:cNvSpPr txBox="1"/>
          <p:nvPr/>
        </p:nvSpPr>
        <p:spPr>
          <a:xfrm>
            <a:off x="3971353" y="752301"/>
            <a:ext cx="16626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Descuento medio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694F46E-9626-587F-7BAE-776FF8DA397B}"/>
              </a:ext>
            </a:extLst>
          </p:cNvPr>
          <p:cNvSpPr txBox="1"/>
          <p:nvPr/>
        </p:nvSpPr>
        <p:spPr>
          <a:xfrm>
            <a:off x="6043345" y="752301"/>
            <a:ext cx="1824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Descuento máximo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657E9A2-7936-BDDA-B19A-5109340DA2DB}"/>
              </a:ext>
            </a:extLst>
          </p:cNvPr>
          <p:cNvSpPr txBox="1"/>
          <p:nvPr/>
        </p:nvSpPr>
        <p:spPr>
          <a:xfrm>
            <a:off x="8844910" y="731764"/>
            <a:ext cx="8883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Mediana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6D0BD60-67D7-A65E-3A1C-952C72EF9798}"/>
              </a:ext>
            </a:extLst>
          </p:cNvPr>
          <p:cNvSpPr txBox="1"/>
          <p:nvPr/>
        </p:nvSpPr>
        <p:spPr>
          <a:xfrm>
            <a:off x="1588680" y="1039541"/>
            <a:ext cx="102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/>
              <a:t>20%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CA57780-9438-3F5C-1027-1FDA4F396967}"/>
              </a:ext>
            </a:extLst>
          </p:cNvPr>
          <p:cNvSpPr txBox="1"/>
          <p:nvPr/>
        </p:nvSpPr>
        <p:spPr>
          <a:xfrm>
            <a:off x="4124684" y="988588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30,6%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730E7E1-0FFE-8B98-9D3F-F92CE89FB78F}"/>
              </a:ext>
            </a:extLst>
          </p:cNvPr>
          <p:cNvSpPr txBox="1"/>
          <p:nvPr/>
        </p:nvSpPr>
        <p:spPr>
          <a:xfrm>
            <a:off x="6247166" y="988588"/>
            <a:ext cx="153439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>
                <a:solidFill>
                  <a:srgbClr val="FF0000"/>
                </a:solidFill>
              </a:rPr>
              <a:t>98,8% 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5A0AC1F-FFAA-57FA-D53C-C7C4A8A280D1}"/>
              </a:ext>
            </a:extLst>
          </p:cNvPr>
          <p:cNvSpPr txBox="1"/>
          <p:nvPr/>
        </p:nvSpPr>
        <p:spPr>
          <a:xfrm>
            <a:off x="8844910" y="988588"/>
            <a:ext cx="10262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>
                <a:solidFill>
                  <a:srgbClr val="2F97DC"/>
                </a:solidFill>
              </a:rPr>
              <a:t>20%</a:t>
            </a:r>
          </a:p>
        </p:txBody>
      </p:sp>
      <p:sp>
        <p:nvSpPr>
          <p:cNvPr id="21" name="Título 1">
            <a:extLst>
              <a:ext uri="{FF2B5EF4-FFF2-40B4-BE49-F238E27FC236}">
                <a16:creationId xmlns:a16="http://schemas.microsoft.com/office/drawing/2014/main" id="{E965BC04-D20F-8B96-D3F6-79534466A098}"/>
              </a:ext>
            </a:extLst>
          </p:cNvPr>
          <p:cNvSpPr txBox="1">
            <a:spLocks/>
          </p:cNvSpPr>
          <p:nvPr/>
        </p:nvSpPr>
        <p:spPr>
          <a:xfrm>
            <a:off x="141346" y="2465295"/>
            <a:ext cx="2582324" cy="3660941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ES" sz="2400" b="1" dirty="0">
                <a:solidFill>
                  <a:schemeClr val="accent1"/>
                </a:solidFill>
              </a:rPr>
              <a:t>"La mayoría sale con un descuento estándar del 20% el mínimo legal. </a:t>
            </a:r>
            <a:br>
              <a:rPr lang="es-ES" sz="2400" b="1" dirty="0">
                <a:solidFill>
                  <a:schemeClr val="accent1"/>
                </a:solidFill>
              </a:rPr>
            </a:br>
            <a:r>
              <a:rPr lang="es-ES" sz="2400" b="1" dirty="0">
                <a:solidFill>
                  <a:schemeClr val="accent1"/>
                </a:solidFill>
              </a:rPr>
              <a:t>Pero algunos llegan al 98%"</a:t>
            </a:r>
          </a:p>
        </p:txBody>
      </p:sp>
    </p:spTree>
    <p:extLst>
      <p:ext uri="{BB962C8B-B14F-4D97-AF65-F5344CB8AC3E}">
        <p14:creationId xmlns:p14="http://schemas.microsoft.com/office/powerpoint/2010/main" val="917132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ángulo 12">
            <a:extLst>
              <a:ext uri="{FF2B5EF4-FFF2-40B4-BE49-F238E27FC236}">
                <a16:creationId xmlns:a16="http://schemas.microsoft.com/office/drawing/2014/main" id="{4AE9D071-98CF-435C-BD2B-976514544D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grpSp>
        <p:nvGrpSpPr>
          <p:cNvPr id="15" name="Grupo 14">
            <a:extLst>
              <a:ext uri="{FF2B5EF4-FFF2-40B4-BE49-F238E27FC236}">
                <a16:creationId xmlns:a16="http://schemas.microsoft.com/office/drawing/2014/main" id="{D619FC33-16ED-4246-9596-BEFEB55E4C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38067" y="457200"/>
            <a:ext cx="7507083" cy="5935132"/>
            <a:chOff x="438067" y="457200"/>
            <a:chExt cx="7507083" cy="5935132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2EEA80E1-F99F-4009-837F-2F72F8A5D5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7" y="618067"/>
              <a:ext cx="7503665" cy="5774265"/>
            </a:xfrm>
            <a:prstGeom prst="rect">
              <a:avLst/>
            </a:prstGeom>
            <a:solidFill>
              <a:schemeClr val="accent1">
                <a:alpha val="97000"/>
              </a:schemeClr>
            </a:solidFill>
            <a:ln w="6350" cmpd="sng"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0230AF9A-4641-4BD8-9F95-9607CD304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8068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8703D4EC-9389-41B6-B88B-B6FDC8CD33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7F2616EE-270D-4F4C-BA1F-2708D387B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1006956"/>
            <a:ext cx="7213600" cy="1121871"/>
          </a:xfrm>
        </p:spPr>
        <p:txBody>
          <a:bodyPr rtlCol="0" anchor="ctr">
            <a:normAutofit/>
          </a:bodyPr>
          <a:lstStyle/>
          <a:p>
            <a:pPr algn="ctr" rtl="0"/>
            <a:r>
              <a:rPr lang="es-ES" dirty="0"/>
              <a:t>Comunicaciones digitales</a:t>
            </a:r>
          </a:p>
        </p:txBody>
      </p:sp>
      <p:graphicFrame>
        <p:nvGraphicFramePr>
          <p:cNvPr id="6" name="Marcador de contenido 5" descr="SmartArt">
            <a:extLst>
              <a:ext uri="{FF2B5EF4-FFF2-40B4-BE49-F238E27FC236}">
                <a16:creationId xmlns:a16="http://schemas.microsoft.com/office/drawing/2014/main" id="{BF629521-FFD2-45DA-9D1D-A5F09BD5A2D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6664575"/>
              </p:ext>
            </p:extLst>
          </p:nvPr>
        </p:nvGraphicFramePr>
        <p:xfrm>
          <a:off x="719571" y="2198254"/>
          <a:ext cx="6854248" cy="35639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5" name="Imagen 4">
            <a:extLst>
              <a:ext uri="{FF2B5EF4-FFF2-40B4-BE49-F238E27FC236}">
                <a16:creationId xmlns:a16="http://schemas.microsoft.com/office/drawing/2014/main" id="{B07AD94C-9A4E-ABC3-807C-CF4C873C852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1480" y="884439"/>
            <a:ext cx="8578806" cy="5089122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E09EDC61-DE3A-5318-F00A-9EC8FAF6830C}"/>
              </a:ext>
            </a:extLst>
          </p:cNvPr>
          <p:cNvSpPr txBox="1"/>
          <p:nvPr/>
        </p:nvSpPr>
        <p:spPr>
          <a:xfrm>
            <a:off x="9639150" y="2066161"/>
            <a:ext cx="149085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Inmueble típico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4B88BCD-F08D-88BC-94C3-296E9288DBAC}"/>
              </a:ext>
            </a:extLst>
          </p:cNvPr>
          <p:cNvSpPr txBox="1"/>
          <p:nvPr/>
        </p:nvSpPr>
        <p:spPr>
          <a:xfrm>
            <a:off x="9414160" y="5214016"/>
            <a:ext cx="24188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Precio de salida en subasta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6C108C3-4271-797A-DDCB-B8D892289087}"/>
              </a:ext>
            </a:extLst>
          </p:cNvPr>
          <p:cNvSpPr txBox="1"/>
          <p:nvPr/>
        </p:nvSpPr>
        <p:spPr>
          <a:xfrm>
            <a:off x="9400144" y="2465651"/>
            <a:ext cx="240322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4400" b="1" dirty="0">
                <a:solidFill>
                  <a:schemeClr val="tx2">
                    <a:lumMod val="60000"/>
                    <a:lumOff val="40000"/>
                  </a:schemeClr>
                </a:solidFill>
              </a:rPr>
              <a:t>35.915 €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AD8AF8D1-7DD8-4360-CFF8-AF768F2F0D10}"/>
              </a:ext>
            </a:extLst>
          </p:cNvPr>
          <p:cNvSpPr txBox="1"/>
          <p:nvPr/>
        </p:nvSpPr>
        <p:spPr>
          <a:xfrm>
            <a:off x="9400144" y="4522432"/>
            <a:ext cx="2346733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4400" b="1" dirty="0">
                <a:solidFill>
                  <a:schemeClr val="accent1"/>
                </a:solidFill>
              </a:rPr>
              <a:t>24. 179€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BF0B6E4-A475-B070-C856-7DF92D49CB2A}"/>
              </a:ext>
            </a:extLst>
          </p:cNvPr>
          <p:cNvSpPr txBox="1"/>
          <p:nvPr/>
        </p:nvSpPr>
        <p:spPr>
          <a:xfrm>
            <a:off x="9278353" y="3180469"/>
            <a:ext cx="2554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/>
              <a:t>Valor de mercado (tasación)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66928F89-DE9E-15B3-1BA7-03E3EDB1B522}"/>
              </a:ext>
            </a:extLst>
          </p:cNvPr>
          <p:cNvSpPr txBox="1">
            <a:spLocks/>
          </p:cNvSpPr>
          <p:nvPr/>
        </p:nvSpPr>
        <p:spPr>
          <a:xfrm>
            <a:off x="8586216" y="45380"/>
            <a:ext cx="3483864" cy="154872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lIns="91440" tIns="45720" rIns="91440" bIns="45720" rtlCol="0" anchor="ctr">
            <a:normAutofit fontScale="975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20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s-ES" sz="2400" b="1" dirty="0">
                <a:solidFill>
                  <a:schemeClr val="accent1"/>
                </a:solidFill>
              </a:rPr>
              <a:t>“El precio de subasta siempre está por debajo del valor de mercado”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C852806-282D-50AC-23F9-AEB5B42A99D4}"/>
              </a:ext>
            </a:extLst>
          </p:cNvPr>
          <p:cNvSpPr txBox="1"/>
          <p:nvPr/>
        </p:nvSpPr>
        <p:spPr>
          <a:xfrm>
            <a:off x="9477604" y="5882119"/>
            <a:ext cx="245291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1400" b="1" dirty="0">
                <a:solidFill>
                  <a:schemeClr val="accent1"/>
                </a:solidFill>
              </a:rPr>
              <a:t>20% de descuento mediano</a:t>
            </a:r>
          </a:p>
        </p:txBody>
      </p:sp>
      <p:sp>
        <p:nvSpPr>
          <p:cNvPr id="8" name="Flecha: hacia abajo 7">
            <a:extLst>
              <a:ext uri="{FF2B5EF4-FFF2-40B4-BE49-F238E27FC236}">
                <a16:creationId xmlns:a16="http://schemas.microsoft.com/office/drawing/2014/main" id="{3B99FA86-6FB1-A0A6-CC23-1183EC269365}"/>
              </a:ext>
            </a:extLst>
          </p:cNvPr>
          <p:cNvSpPr/>
          <p:nvPr/>
        </p:nvSpPr>
        <p:spPr>
          <a:xfrm>
            <a:off x="10287543" y="3674517"/>
            <a:ext cx="457200" cy="74903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Flecha: hacia abajo 18">
            <a:extLst>
              <a:ext uri="{FF2B5EF4-FFF2-40B4-BE49-F238E27FC236}">
                <a16:creationId xmlns:a16="http://schemas.microsoft.com/office/drawing/2014/main" id="{F007A9ED-2C29-F845-DA28-FB36FB78784F}"/>
              </a:ext>
            </a:extLst>
          </p:cNvPr>
          <p:cNvSpPr/>
          <p:nvPr/>
        </p:nvSpPr>
        <p:spPr>
          <a:xfrm>
            <a:off x="9495336" y="5892598"/>
            <a:ext cx="45719" cy="29729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0932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ángulo 28">
            <a:extLst>
              <a:ext uri="{FF2B5EF4-FFF2-40B4-BE49-F238E27FC236}">
                <a16:creationId xmlns:a16="http://schemas.microsoft.com/office/drawing/2014/main" id="{BFDA9692-ECDC-4B59-86B2-8C90FDE1A0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6712"/>
            <a:ext cx="12192000" cy="632128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31" name="Rectángulo 30">
            <a:extLst>
              <a:ext uri="{FF2B5EF4-FFF2-40B4-BE49-F238E27FC236}">
                <a16:creationId xmlns:a16="http://schemas.microsoft.com/office/drawing/2014/main" id="{12C05506-42A1-49C0-9D87-081CCD902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FEA5E4B4-FABE-C474-817C-1DF3646A4F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0863" t="12421"/>
          <a:stretch>
            <a:fillRect/>
          </a:stretch>
        </p:blipFill>
        <p:spPr>
          <a:xfrm>
            <a:off x="172915" y="1737041"/>
            <a:ext cx="9236452" cy="4327682"/>
          </a:xfrm>
          <a:prstGeom prst="rect">
            <a:avLst/>
          </a:prstGeom>
        </p:spPr>
      </p:pic>
      <p:sp>
        <p:nvSpPr>
          <p:cNvPr id="10" name="CuadroTexto 9">
            <a:extLst>
              <a:ext uri="{FF2B5EF4-FFF2-40B4-BE49-F238E27FC236}">
                <a16:creationId xmlns:a16="http://schemas.microsoft.com/office/drawing/2014/main" id="{9E265AA6-5A42-EC37-DA7E-405DD4EC5A6B}"/>
              </a:ext>
            </a:extLst>
          </p:cNvPr>
          <p:cNvSpPr txBox="1"/>
          <p:nvPr/>
        </p:nvSpPr>
        <p:spPr>
          <a:xfrm>
            <a:off x="9561212" y="3404829"/>
            <a:ext cx="245787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Un descuento alto puede indicar cargas ocultas (hipotecas, embargos) que el comprador hereda.</a:t>
            </a:r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FAE17BB0-DB91-CC97-E0C7-A09DAB9291C8}"/>
              </a:ext>
            </a:extLst>
          </p:cNvPr>
          <p:cNvSpPr/>
          <p:nvPr/>
        </p:nvSpPr>
        <p:spPr>
          <a:xfrm>
            <a:off x="9943731" y="1447448"/>
            <a:ext cx="1452694" cy="149922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38880BD-6EB8-1D2E-FEC6-415ED76904E2}"/>
              </a:ext>
            </a:extLst>
          </p:cNvPr>
          <p:cNvSpPr txBox="1"/>
          <p:nvPr/>
        </p:nvSpPr>
        <p:spPr>
          <a:xfrm>
            <a:off x="10177512" y="1562467"/>
            <a:ext cx="10342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6000" b="1" dirty="0">
                <a:solidFill>
                  <a:schemeClr val="bg1"/>
                </a:solidFill>
              </a:rPr>
              <a:t>53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E92FF882-9E9E-D7D1-0F78-54717591F80F}"/>
              </a:ext>
            </a:extLst>
          </p:cNvPr>
          <p:cNvSpPr txBox="1"/>
          <p:nvPr/>
        </p:nvSpPr>
        <p:spPr>
          <a:xfrm>
            <a:off x="9992857" y="2424242"/>
            <a:ext cx="14035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chemeClr val="bg1"/>
                </a:solidFill>
              </a:rPr>
              <a:t>SUBASTAS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7388D6EF-2B53-1A11-874D-96CFE60F9120}"/>
              </a:ext>
            </a:extLst>
          </p:cNvPr>
          <p:cNvSpPr/>
          <p:nvPr/>
        </p:nvSpPr>
        <p:spPr>
          <a:xfrm>
            <a:off x="587882" y="571719"/>
            <a:ext cx="11150795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s-ES" sz="36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</a:t>
            </a:r>
            <a:r>
              <a:rPr lang="es-ES" sz="3600" b="1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ubastas con &gt;50% de descuento son atractivas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9EEFEC80-CA01-82A0-DA6A-9B83009D3030}"/>
              </a:ext>
            </a:extLst>
          </p:cNvPr>
          <p:cNvSpPr txBox="1"/>
          <p:nvPr/>
        </p:nvSpPr>
        <p:spPr>
          <a:xfrm>
            <a:off x="143017" y="-19855"/>
            <a:ext cx="32908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dirty="0">
                <a:solidFill>
                  <a:schemeClr val="accent6"/>
                </a:solidFill>
              </a:rPr>
              <a:t>¿Oportunidad real?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687E90B-8D2A-51C6-6500-150C7B6A1158}"/>
              </a:ext>
            </a:extLst>
          </p:cNvPr>
          <p:cNvSpPr txBox="1"/>
          <p:nvPr/>
        </p:nvSpPr>
        <p:spPr>
          <a:xfrm>
            <a:off x="9856293" y="3053130"/>
            <a:ext cx="18677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600" dirty="0">
                <a:solidFill>
                  <a:srgbClr val="FF0000"/>
                </a:solidFill>
              </a:rPr>
              <a:t>■ ■ </a:t>
            </a:r>
            <a:r>
              <a:rPr lang="es-ES" sz="2000" b="1" dirty="0">
                <a:solidFill>
                  <a:srgbClr val="FF0000"/>
                </a:solidFill>
              </a:rPr>
              <a:t>Atención</a:t>
            </a:r>
            <a:endParaRPr lang="es-ES" sz="1600" b="1" dirty="0">
              <a:solidFill>
                <a:srgbClr val="FF0000"/>
              </a:solidFill>
            </a:endParaRP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939C3E6-7F00-49F1-B3B6-F3CF65AF8A09}"/>
              </a:ext>
            </a:extLst>
          </p:cNvPr>
          <p:cNvSpPr txBox="1"/>
          <p:nvPr/>
        </p:nvSpPr>
        <p:spPr>
          <a:xfrm>
            <a:off x="9534101" y="5248431"/>
            <a:ext cx="23774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400" dirty="0">
                <a:solidFill>
                  <a:srgbClr val="00B050"/>
                </a:solidFill>
              </a:rPr>
              <a:t>■ ■ </a:t>
            </a:r>
            <a:r>
              <a:rPr lang="es-ES" b="1" dirty="0">
                <a:solidFill>
                  <a:srgbClr val="00B050"/>
                </a:solidFill>
              </a:rPr>
              <a:t>Recomendación</a:t>
            </a:r>
            <a:endParaRPr lang="es-ES" sz="1400" b="1" dirty="0">
              <a:solidFill>
                <a:srgbClr val="00B050"/>
              </a:solidFill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49C2EB4F-70EA-65D9-1926-0B8D19B0656E}"/>
              </a:ext>
            </a:extLst>
          </p:cNvPr>
          <p:cNvSpPr txBox="1"/>
          <p:nvPr/>
        </p:nvSpPr>
        <p:spPr>
          <a:xfrm>
            <a:off x="9582282" y="5547617"/>
            <a:ext cx="245787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chemeClr val="bg1"/>
                </a:solidFill>
              </a:rPr>
              <a:t>Revisar siempre la certificación de cargas antes de pujar.</a:t>
            </a:r>
          </a:p>
        </p:txBody>
      </p:sp>
    </p:spTree>
    <p:extLst>
      <p:ext uri="{BB962C8B-B14F-4D97-AF65-F5344CB8AC3E}">
        <p14:creationId xmlns:p14="http://schemas.microsoft.com/office/powerpoint/2010/main" val="1703342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iagrama de flujo: tarjeta 18">
            <a:extLst>
              <a:ext uri="{FF2B5EF4-FFF2-40B4-BE49-F238E27FC236}">
                <a16:creationId xmlns:a16="http://schemas.microsoft.com/office/drawing/2014/main" id="{6F6E7D9F-39CB-9399-EEF3-D39CA0790EA9}"/>
              </a:ext>
            </a:extLst>
          </p:cNvPr>
          <p:cNvSpPr/>
          <p:nvPr/>
        </p:nvSpPr>
        <p:spPr>
          <a:xfrm>
            <a:off x="9695576" y="2565183"/>
            <a:ext cx="1635985" cy="805101"/>
          </a:xfrm>
          <a:prstGeom prst="flowChartPunchedCard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Diagrama de flujo: tarjeta 17">
            <a:extLst>
              <a:ext uri="{FF2B5EF4-FFF2-40B4-BE49-F238E27FC236}">
                <a16:creationId xmlns:a16="http://schemas.microsoft.com/office/drawing/2014/main" id="{5E72142D-535B-E83F-FA4D-9656375E20BE}"/>
              </a:ext>
            </a:extLst>
          </p:cNvPr>
          <p:cNvSpPr/>
          <p:nvPr/>
        </p:nvSpPr>
        <p:spPr>
          <a:xfrm>
            <a:off x="7431267" y="3670153"/>
            <a:ext cx="1571244" cy="818631"/>
          </a:xfrm>
          <a:prstGeom prst="flowChartPunchedCard">
            <a:avLst/>
          </a:prstGeom>
          <a:solidFill>
            <a:srgbClr val="FF535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17" name="Diagrama de flujo: tarjeta 16">
            <a:extLst>
              <a:ext uri="{FF2B5EF4-FFF2-40B4-BE49-F238E27FC236}">
                <a16:creationId xmlns:a16="http://schemas.microsoft.com/office/drawing/2014/main" id="{B786ADB5-46C4-D26D-D77F-80B821BD40AF}"/>
              </a:ext>
            </a:extLst>
          </p:cNvPr>
          <p:cNvSpPr/>
          <p:nvPr/>
        </p:nvSpPr>
        <p:spPr>
          <a:xfrm>
            <a:off x="7473478" y="1549283"/>
            <a:ext cx="1635985" cy="805101"/>
          </a:xfrm>
          <a:prstGeom prst="flowChartPunchedCa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A1C37A5E-B700-79CC-5A96-943754FFF9DF}"/>
              </a:ext>
            </a:extLst>
          </p:cNvPr>
          <p:cNvSpPr txBox="1"/>
          <p:nvPr/>
        </p:nvSpPr>
        <p:spPr>
          <a:xfrm>
            <a:off x="2173899" y="1171478"/>
            <a:ext cx="16393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000" b="1" dirty="0">
                <a:solidFill>
                  <a:schemeClr val="accent6"/>
                </a:solidFill>
              </a:rPr>
              <a:t>Confirmado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3496CCF-1EE2-CE2B-F6DF-AD93E84F78BF}"/>
              </a:ext>
            </a:extLst>
          </p:cNvPr>
          <p:cNvSpPr txBox="1"/>
          <p:nvPr/>
        </p:nvSpPr>
        <p:spPr>
          <a:xfrm>
            <a:off x="1109417" y="1520431"/>
            <a:ext cx="359228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solidFill>
                  <a:schemeClr val="accent1"/>
                </a:solidFill>
              </a:rPr>
              <a:t>El 89.4 % de subastas tributarias salen por debajo del 50% de su tasación 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D33152DC-7B07-47DF-BBE1-F0702694E417}"/>
              </a:ext>
            </a:extLst>
          </p:cNvPr>
          <p:cNvSpPr txBox="1"/>
          <p:nvPr/>
        </p:nvSpPr>
        <p:spPr>
          <a:xfrm>
            <a:off x="860439" y="3740838"/>
            <a:ext cx="45101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Descuento estándar: 20% (mínimo legal)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Depósito siempre = 5% del valor subasta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Descuento independiente del valor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Duración estándar: 20 días (legal)</a:t>
            </a:r>
          </a:p>
          <a:p>
            <a:endParaRPr lang="es-ES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109CD7E-B9B2-3F70-AC93-B0B11895609C}"/>
              </a:ext>
            </a:extLst>
          </p:cNvPr>
          <p:cNvSpPr txBox="1"/>
          <p:nvPr/>
        </p:nvSpPr>
        <p:spPr>
          <a:xfrm>
            <a:off x="7490298" y="986812"/>
            <a:ext cx="38581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b="1" dirty="0"/>
              <a:t>Descuento medio estable por mes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78C6E364-0270-ADF0-59C4-69A8687C77B9}"/>
              </a:ext>
            </a:extLst>
          </p:cNvPr>
          <p:cNvSpPr txBox="1"/>
          <p:nvPr/>
        </p:nvSpPr>
        <p:spPr>
          <a:xfrm>
            <a:off x="7590646" y="1681320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>
                <a:solidFill>
                  <a:schemeClr val="bg1"/>
                </a:solidFill>
              </a:rPr>
              <a:t>31.3%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920C66D4-AB41-A4D1-1B45-AEACC94FBCC0}"/>
              </a:ext>
            </a:extLst>
          </p:cNvPr>
          <p:cNvSpPr txBox="1"/>
          <p:nvPr/>
        </p:nvSpPr>
        <p:spPr>
          <a:xfrm>
            <a:off x="7431267" y="2378422"/>
            <a:ext cx="18835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>
                <a:solidFill>
                  <a:schemeClr val="accent1"/>
                </a:solidFill>
              </a:rPr>
              <a:t>Octubre 2025</a:t>
            </a:r>
            <a:r>
              <a:rPr lang="es-ES" sz="1600" b="1" dirty="0">
                <a:solidFill>
                  <a:schemeClr val="accent1"/>
                </a:solidFill>
              </a:rPr>
              <a:t> 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676B17A9-D9EB-0C69-4FCF-48E884349BC9}"/>
              </a:ext>
            </a:extLst>
          </p:cNvPr>
          <p:cNvSpPr txBox="1"/>
          <p:nvPr/>
        </p:nvSpPr>
        <p:spPr>
          <a:xfrm>
            <a:off x="9924881" y="2617852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/>
              <a:t>27.6%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356BCCC-E841-7F6F-24CF-6D72CE6A063A}"/>
              </a:ext>
            </a:extLst>
          </p:cNvPr>
          <p:cNvSpPr txBox="1"/>
          <p:nvPr/>
        </p:nvSpPr>
        <p:spPr>
          <a:xfrm>
            <a:off x="9510184" y="3355693"/>
            <a:ext cx="223554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>
                <a:solidFill>
                  <a:srgbClr val="00B0F0"/>
                </a:solidFill>
              </a:rPr>
              <a:t>Noviembre 2025 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5F37BA3-C4B6-6BDF-DD19-4A6BA8CE5D4F}"/>
              </a:ext>
            </a:extLst>
          </p:cNvPr>
          <p:cNvSpPr txBox="1"/>
          <p:nvPr/>
        </p:nvSpPr>
        <p:spPr>
          <a:xfrm>
            <a:off x="7596357" y="3800810"/>
            <a:ext cx="14061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3600" b="1" dirty="0"/>
              <a:t>32.9%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AE7B6AF-BEEC-4A26-CC19-E96A9D779737}"/>
              </a:ext>
            </a:extLst>
          </p:cNvPr>
          <p:cNvSpPr txBox="1"/>
          <p:nvPr/>
        </p:nvSpPr>
        <p:spPr>
          <a:xfrm>
            <a:off x="7237304" y="4479502"/>
            <a:ext cx="20774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2000" b="1" dirty="0">
                <a:solidFill>
                  <a:srgbClr val="FF5353"/>
                </a:solidFill>
              </a:rPr>
              <a:t>Diciembre 2025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72697EC8-9AF3-709F-C41F-AE889690F795}"/>
              </a:ext>
            </a:extLst>
          </p:cNvPr>
          <p:cNvSpPr txBox="1"/>
          <p:nvPr/>
        </p:nvSpPr>
        <p:spPr>
          <a:xfrm>
            <a:off x="360744" y="5565850"/>
            <a:ext cx="95641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>
                <a:solidFill>
                  <a:schemeClr val="bg1"/>
                </a:solidFill>
              </a:rPr>
              <a:t>Conclusión: Las subastas publicadas en el BOE descuentos reales</a:t>
            </a:r>
          </a:p>
        </p:txBody>
      </p:sp>
    </p:spTree>
    <p:extLst>
      <p:ext uri="{BB962C8B-B14F-4D97-AF65-F5344CB8AC3E}">
        <p14:creationId xmlns:p14="http://schemas.microsoft.com/office/powerpoint/2010/main" val="7053697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á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ES"/>
          </a:p>
        </p:txBody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  <p:sp>
          <p:nvSpPr>
            <p:cNvPr id="17" name="Rectá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s-E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es-ES" dirty="0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CB511D-EA45-4336-847C-1252667143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37063" y="5855703"/>
            <a:ext cx="1832255" cy="356220"/>
          </a:xfrm>
        </p:spPr>
        <p:txBody>
          <a:bodyPr rtlCol="0">
            <a:normAutofit/>
          </a:bodyPr>
          <a:lstStyle/>
          <a:p>
            <a:pPr rtl="0"/>
            <a:r>
              <a:rPr lang="es-ES" u="sng" dirty="0">
                <a:solidFill>
                  <a:schemeClr val="bg2"/>
                </a:solidFill>
              </a:rPr>
              <a:t>Nadia llamoca </a:t>
            </a:r>
          </a:p>
        </p:txBody>
      </p:sp>
      <p:pic>
        <p:nvPicPr>
          <p:cNvPr id="5" name="Imagen 4" descr="Números digitale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9669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{A10A1690-9020-439E-8ACF-F045118E8D9B}TF9cd6fad6-da1d-416b-8dc8-a086cd1045b10fc9cf83_win32-66f3597afc39</Template>
  <TotalTime>152</TotalTime>
  <Words>302</Words>
  <Application>Microsoft Office PowerPoint</Application>
  <PresentationFormat>Panorámica</PresentationFormat>
  <Paragraphs>65</Paragraphs>
  <Slides>8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Calibri</vt:lpstr>
      <vt:lpstr>Gill Sans MT</vt:lpstr>
      <vt:lpstr>Wingdings</vt:lpstr>
      <vt:lpstr>Wingdings 2</vt:lpstr>
      <vt:lpstr>Personalizado</vt:lpstr>
      <vt:lpstr>Presentación de PowerPoint</vt:lpstr>
      <vt:lpstr>“inmuebles subastados en el portal del boe salen a un precio inferior al 50% de su valor de mercado"</vt:lpstr>
      <vt:lpstr>Presentación de PowerPoint</vt:lpstr>
      <vt:lpstr>dio</vt:lpstr>
      <vt:lpstr>Comunicaciones digitales</vt:lpstr>
      <vt:lpstr>Presentación de PowerPoint</vt:lpstr>
      <vt:lpstr>Presentación de PowerPoint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ALUMNO - NADIA DOMITILA LLAMOCA CORDOVA</dc:creator>
  <cp:lastModifiedBy>ALUMNO - NADIA DOMITILA LLAMOCA CORDOVA</cp:lastModifiedBy>
  <cp:revision>2</cp:revision>
  <dcterms:created xsi:type="dcterms:W3CDTF">2026-04-13T00:41:25Z</dcterms:created>
  <dcterms:modified xsi:type="dcterms:W3CDTF">2026-04-13T03:16:29Z</dcterms:modified>
</cp:coreProperties>
</file>
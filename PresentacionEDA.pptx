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263" r:id="rId2"/>
    <p:sldId id="258" r:id="rId3"/>
    <p:sldId id="262" r:id="rId4"/>
    <p:sldId id="264" r:id="rId5"/>
    <p:sldId id="259" r:id="rId6"/>
    <p:sldId id="261" r:id="rId7"/>
    <p:sldId id="266" r:id="rId8"/>
    <p:sldId id="260" r:id="rId9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353"/>
    <a:srgbClr val="2F97DC"/>
    <a:srgbClr val="DBEBF8"/>
    <a:srgbClr val="374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Nube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Local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Híbrido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noProof="0" dirty="0"/>
            <a:t>Nube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noProof="0" dirty="0"/>
            <a:t>Local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rtlCol="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noProof="0" dirty="0"/>
            <a:t>Híbrido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13/04/2026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966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13/04/2026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6FAEE86-2832-FDF2-021C-A00143C59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79" r="1" b="1287"/>
          <a:stretch>
            <a:fillRect/>
          </a:stretch>
        </p:blipFill>
        <p:spPr>
          <a:xfrm>
            <a:off x="120650" y="620713"/>
            <a:ext cx="11950700" cy="6169025"/>
          </a:xfrm>
          <a:prstGeom prst="rect">
            <a:avLst/>
          </a:prstGeom>
          <a:noFill/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33C012F-F07B-36BC-5AA1-0A6DDE5BF936}"/>
              </a:ext>
            </a:extLst>
          </p:cNvPr>
          <p:cNvSpPr/>
          <p:nvPr/>
        </p:nvSpPr>
        <p:spPr>
          <a:xfrm>
            <a:off x="236706" y="4035966"/>
            <a:ext cx="11834644" cy="156966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Subastas Públicas de Inmuebles en España</a:t>
            </a:r>
          </a:p>
          <a:p>
            <a:pPr algn="ctr"/>
            <a:r>
              <a:rPr lang="es-ES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¿Una oportunidad real de compra?</a:t>
            </a:r>
          </a:p>
        </p:txBody>
      </p:sp>
    </p:spTree>
    <p:extLst>
      <p:ext uri="{BB962C8B-B14F-4D97-AF65-F5344CB8AC3E}">
        <p14:creationId xmlns:p14="http://schemas.microsoft.com/office/powerpoint/2010/main" val="389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62688"/>
            <a:ext cx="11029616" cy="1118294"/>
          </a:xfrm>
        </p:spPr>
        <p:txBody>
          <a:bodyPr rtlCol="0">
            <a:normAutofit/>
          </a:bodyPr>
          <a:lstStyle/>
          <a:p>
            <a:pPr algn="ctr"/>
            <a:r>
              <a:rPr lang="es-ES" dirty="0"/>
              <a:t>“inmuebles subastados en el portal del </a:t>
            </a:r>
            <a:r>
              <a:rPr lang="es-ES" dirty="0" err="1"/>
              <a:t>boe</a:t>
            </a:r>
            <a:r>
              <a:rPr lang="es-ES" dirty="0"/>
              <a:t> salen con descuento sobre su tasación inferior al 50%"</a:t>
            </a:r>
            <a:endParaRPr lang="es-E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8ACC09-371A-2F4E-6BE0-CC57F3CEA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132" y="1955259"/>
            <a:ext cx="4834243" cy="47568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CF4605B-7A12-1117-A0A3-1FCDBE86987F}"/>
              </a:ext>
            </a:extLst>
          </p:cNvPr>
          <p:cNvSpPr txBox="1"/>
          <p:nvPr/>
        </p:nvSpPr>
        <p:spPr>
          <a:xfrm>
            <a:off x="1374031" y="4045270"/>
            <a:ext cx="2457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De los inmuebles subastados en el portal del BOE sale por debajo del 50% de su tasación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9763C8F-A4DB-893C-370A-47F2CB4E6E84}"/>
              </a:ext>
            </a:extLst>
          </p:cNvPr>
          <p:cNvSpPr txBox="1"/>
          <p:nvPr/>
        </p:nvSpPr>
        <p:spPr>
          <a:xfrm>
            <a:off x="1044085" y="2535491"/>
            <a:ext cx="34820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/>
                </a:solidFill>
              </a:rPr>
              <a:t>89.4 %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875CC5A-98BD-DBC8-B313-303B0C0BA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626" y="5062607"/>
            <a:ext cx="1293779" cy="129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iagrama de flujo: conector fuera de página 26">
            <a:extLst>
              <a:ext uri="{FF2B5EF4-FFF2-40B4-BE49-F238E27FC236}">
                <a16:creationId xmlns:a16="http://schemas.microsoft.com/office/drawing/2014/main" id="{020214AB-311E-FDF9-CC99-3A1E605FD73C}"/>
              </a:ext>
            </a:extLst>
          </p:cNvPr>
          <p:cNvSpPr/>
          <p:nvPr/>
        </p:nvSpPr>
        <p:spPr>
          <a:xfrm rot="16200000">
            <a:off x="344686" y="2302949"/>
            <a:ext cx="3389883" cy="4079253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69CE42D-78E0-F3D7-C899-D94338CCBC84}"/>
              </a:ext>
            </a:extLst>
          </p:cNvPr>
          <p:cNvSpPr/>
          <p:nvPr/>
        </p:nvSpPr>
        <p:spPr>
          <a:xfrm>
            <a:off x="493643" y="820483"/>
            <a:ext cx="1123453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Analizamos 498 subastas reales del Portal del BOE </a:t>
            </a:r>
          </a:p>
          <a:p>
            <a:pPr algn="ctr"/>
            <a:r>
              <a:rPr lang="es-ES" sz="36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entre octubre y diciembre de 2025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707412-45C7-80D2-CC9A-31E18F68282D}"/>
              </a:ext>
            </a:extLst>
          </p:cNvPr>
          <p:cNvSpPr txBox="1"/>
          <p:nvPr/>
        </p:nvSpPr>
        <p:spPr>
          <a:xfrm>
            <a:off x="482299" y="2699966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Fuente</a:t>
            </a:r>
            <a:r>
              <a:rPr lang="es-ES" sz="1400" b="1" dirty="0">
                <a:solidFill>
                  <a:srgbClr val="374959"/>
                </a:solidFill>
              </a:rPr>
              <a:t>: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1A6493-83AF-D3DB-3AB7-8A3B6F67BCA2}"/>
              </a:ext>
            </a:extLst>
          </p:cNvPr>
          <p:cNvSpPr txBox="1"/>
          <p:nvPr/>
        </p:nvSpPr>
        <p:spPr>
          <a:xfrm>
            <a:off x="396837" y="3354388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Método: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F6DFE94-E08F-2A78-BBED-4DBAFF60EC7B}"/>
              </a:ext>
            </a:extLst>
          </p:cNvPr>
          <p:cNvSpPr txBox="1"/>
          <p:nvPr/>
        </p:nvSpPr>
        <p:spPr>
          <a:xfrm>
            <a:off x="396837" y="3532764"/>
            <a:ext cx="1633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accent5"/>
                </a:solidFill>
              </a:rPr>
              <a:t>Web </a:t>
            </a:r>
            <a:r>
              <a:rPr lang="es-ES" sz="1400" dirty="0" err="1">
                <a:solidFill>
                  <a:schemeClr val="accent5"/>
                </a:solidFill>
              </a:rPr>
              <a:t>scraping</a:t>
            </a:r>
            <a:endParaRPr lang="es-ES" sz="1400" dirty="0">
              <a:solidFill>
                <a:schemeClr val="accent5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BFD498F-51D8-BC68-A3B2-C2974DA18499}"/>
              </a:ext>
            </a:extLst>
          </p:cNvPr>
          <p:cNvSpPr txBox="1"/>
          <p:nvPr/>
        </p:nvSpPr>
        <p:spPr>
          <a:xfrm>
            <a:off x="388364" y="4033844"/>
            <a:ext cx="1008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Registros</a:t>
            </a:r>
            <a:r>
              <a:rPr lang="es-ES" sz="1400" b="1" dirty="0">
                <a:solidFill>
                  <a:srgbClr val="374959"/>
                </a:solidFill>
              </a:rPr>
              <a:t>: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5D16123-45FC-5DBE-C808-591693D5D5F5}"/>
              </a:ext>
            </a:extLst>
          </p:cNvPr>
          <p:cNvSpPr txBox="1"/>
          <p:nvPr/>
        </p:nvSpPr>
        <p:spPr>
          <a:xfrm>
            <a:off x="376140" y="4273314"/>
            <a:ext cx="2267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accent5"/>
                </a:solidFill>
              </a:rPr>
              <a:t>498 subastas válidas de 4,726 totales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42EE25F-893C-437E-EB7C-E1EC8010EC9F}"/>
              </a:ext>
            </a:extLst>
          </p:cNvPr>
          <p:cNvSpPr txBox="1"/>
          <p:nvPr/>
        </p:nvSpPr>
        <p:spPr>
          <a:xfrm>
            <a:off x="351943" y="4992524"/>
            <a:ext cx="1247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Organismos</a:t>
            </a:r>
            <a:r>
              <a:rPr lang="es-ES" sz="1400" b="1" dirty="0">
                <a:solidFill>
                  <a:srgbClr val="374959"/>
                </a:solidFill>
              </a:rPr>
              <a:t>: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D80970B-176E-E9C9-ED77-B95964A43659}"/>
              </a:ext>
            </a:extLst>
          </p:cNvPr>
          <p:cNvSpPr txBox="1"/>
          <p:nvPr/>
        </p:nvSpPr>
        <p:spPr>
          <a:xfrm>
            <a:off x="459356" y="2934136"/>
            <a:ext cx="2556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accent5"/>
                </a:solidFill>
              </a:rPr>
              <a:t>Boletín oficial del Estado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05412F38-0B39-5D70-548B-17A6230D3A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00" t="7589"/>
          <a:stretch>
            <a:fillRect/>
          </a:stretch>
        </p:blipFill>
        <p:spPr>
          <a:xfrm>
            <a:off x="4258525" y="2386670"/>
            <a:ext cx="7536637" cy="3784030"/>
          </a:xfrm>
          <a:prstGeom prst="rect">
            <a:avLst/>
          </a:prstGeom>
          <a:noFill/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9C03E37A-1448-D63A-05D3-8705AE508EAD}"/>
              </a:ext>
            </a:extLst>
          </p:cNvPr>
          <p:cNvSpPr txBox="1"/>
          <p:nvPr/>
        </p:nvSpPr>
        <p:spPr>
          <a:xfrm>
            <a:off x="376141" y="5228620"/>
            <a:ext cx="2267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accent5"/>
                </a:solidFill>
              </a:rPr>
              <a:t>AEAT</a:t>
            </a:r>
          </a:p>
          <a:p>
            <a:r>
              <a:rPr lang="es-ES" sz="1400" dirty="0">
                <a:solidFill>
                  <a:schemeClr val="accent5"/>
                </a:solidFill>
              </a:rPr>
              <a:t>Recaudación Tributaria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517123B6-D0D2-C59F-4B05-3B8BE20BAD85}"/>
              </a:ext>
            </a:extLst>
          </p:cNvPr>
          <p:cNvSpPr/>
          <p:nvPr/>
        </p:nvSpPr>
        <p:spPr>
          <a:xfrm>
            <a:off x="2304701" y="3528329"/>
            <a:ext cx="1499951" cy="14842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9" name="Picture 8">
            <a:extLst>
              <a:ext uri="{FF2B5EF4-FFF2-40B4-BE49-F238E27FC236}">
                <a16:creationId xmlns:a16="http://schemas.microsoft.com/office/drawing/2014/main" id="{AF124BFC-BDA6-7AE2-103F-3F44A23A0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569" y="3686652"/>
            <a:ext cx="1592214" cy="119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35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3C3BA-57F1-F922-557B-C2F15B9B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CD0397-D6D4-7425-A793-540A94E17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A963B9A-DE95-1EBF-534D-4FB77C2E60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16" t="11927"/>
          <a:stretch>
            <a:fillRect/>
          </a:stretch>
        </p:blipFill>
        <p:spPr>
          <a:xfrm>
            <a:off x="2926584" y="1809345"/>
            <a:ext cx="9008941" cy="431689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2CE1B6B-6493-73F0-D823-3ECBA2875C49}"/>
              </a:ext>
            </a:extLst>
          </p:cNvPr>
          <p:cNvSpPr txBox="1"/>
          <p:nvPr/>
        </p:nvSpPr>
        <p:spPr>
          <a:xfrm>
            <a:off x="1250851" y="731764"/>
            <a:ext cx="2220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Descuento mínimo legal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A6AC2E4-1559-0B02-BA5F-A6CD207A068D}"/>
              </a:ext>
            </a:extLst>
          </p:cNvPr>
          <p:cNvSpPr txBox="1"/>
          <p:nvPr/>
        </p:nvSpPr>
        <p:spPr>
          <a:xfrm>
            <a:off x="3971353" y="752301"/>
            <a:ext cx="1662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Descuento medio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94F46E-9626-587F-7BAE-776FF8DA397B}"/>
              </a:ext>
            </a:extLst>
          </p:cNvPr>
          <p:cNvSpPr txBox="1"/>
          <p:nvPr/>
        </p:nvSpPr>
        <p:spPr>
          <a:xfrm>
            <a:off x="6043345" y="752301"/>
            <a:ext cx="1824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Descuento máximo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657E9A2-7936-BDDA-B19A-5109340DA2DB}"/>
              </a:ext>
            </a:extLst>
          </p:cNvPr>
          <p:cNvSpPr txBox="1"/>
          <p:nvPr/>
        </p:nvSpPr>
        <p:spPr>
          <a:xfrm>
            <a:off x="8844910" y="731764"/>
            <a:ext cx="8883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Mediana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D0BD60-67D7-A65E-3A1C-952C72EF9798}"/>
              </a:ext>
            </a:extLst>
          </p:cNvPr>
          <p:cNvSpPr txBox="1"/>
          <p:nvPr/>
        </p:nvSpPr>
        <p:spPr>
          <a:xfrm>
            <a:off x="1588680" y="1039541"/>
            <a:ext cx="1026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/>
              <a:t>20%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A57780-9438-3F5C-1027-1FDA4F396967}"/>
              </a:ext>
            </a:extLst>
          </p:cNvPr>
          <p:cNvSpPr txBox="1"/>
          <p:nvPr/>
        </p:nvSpPr>
        <p:spPr>
          <a:xfrm>
            <a:off x="4124684" y="988588"/>
            <a:ext cx="1406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30,6%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730E7E1-0FFE-8B98-9D3F-F92CE89FB78F}"/>
              </a:ext>
            </a:extLst>
          </p:cNvPr>
          <p:cNvSpPr txBox="1"/>
          <p:nvPr/>
        </p:nvSpPr>
        <p:spPr>
          <a:xfrm>
            <a:off x="6247166" y="988588"/>
            <a:ext cx="1534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rgbClr val="FF0000"/>
                </a:solidFill>
              </a:rPr>
              <a:t>98,8%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5A0AC1F-FFAA-57FA-D53C-C7C4A8A280D1}"/>
              </a:ext>
            </a:extLst>
          </p:cNvPr>
          <p:cNvSpPr txBox="1"/>
          <p:nvPr/>
        </p:nvSpPr>
        <p:spPr>
          <a:xfrm>
            <a:off x="8844910" y="988588"/>
            <a:ext cx="1026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rgbClr val="2F97DC"/>
                </a:solidFill>
              </a:rPr>
              <a:t>20%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E965BC04-D20F-8B96-D3F6-79534466A098}"/>
              </a:ext>
            </a:extLst>
          </p:cNvPr>
          <p:cNvSpPr txBox="1">
            <a:spLocks/>
          </p:cNvSpPr>
          <p:nvPr/>
        </p:nvSpPr>
        <p:spPr>
          <a:xfrm>
            <a:off x="141346" y="2465295"/>
            <a:ext cx="2582324" cy="36609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" sz="2400" b="1" dirty="0">
                <a:solidFill>
                  <a:schemeClr val="accent1"/>
                </a:solidFill>
              </a:rPr>
              <a:t>"La mayoría sale con un descuento estándar del 20% el mínimo legal. </a:t>
            </a:r>
            <a:br>
              <a:rPr lang="es-ES" sz="2400" b="1" dirty="0">
                <a:solidFill>
                  <a:schemeClr val="accent1"/>
                </a:solidFill>
              </a:rPr>
            </a:br>
            <a:r>
              <a:rPr lang="es-ES" sz="2400" b="1" dirty="0">
                <a:solidFill>
                  <a:schemeClr val="accent1"/>
                </a:solidFill>
              </a:rPr>
              <a:t>Pero algunos llegan al 98%"</a:t>
            </a:r>
          </a:p>
        </p:txBody>
      </p:sp>
    </p:spTree>
    <p:extLst>
      <p:ext uri="{BB962C8B-B14F-4D97-AF65-F5344CB8AC3E}">
        <p14:creationId xmlns:p14="http://schemas.microsoft.com/office/powerpoint/2010/main" val="91713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es-ES" dirty="0"/>
              <a:t>Comunicaciones digitales</a:t>
            </a:r>
          </a:p>
        </p:txBody>
      </p:sp>
      <p:graphicFrame>
        <p:nvGraphicFramePr>
          <p:cNvPr id="6" name="Marcador de conteni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664575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B07AD94C-9A4E-ABC3-807C-CF4C873C85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480" y="884439"/>
            <a:ext cx="8578806" cy="508912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09EDC61-DE3A-5318-F00A-9EC8FAF6830C}"/>
              </a:ext>
            </a:extLst>
          </p:cNvPr>
          <p:cNvSpPr txBox="1"/>
          <p:nvPr/>
        </p:nvSpPr>
        <p:spPr>
          <a:xfrm>
            <a:off x="9639150" y="2066161"/>
            <a:ext cx="1490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Inmueble típico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B88BCD-F08D-88BC-94C3-296E9288DBAC}"/>
              </a:ext>
            </a:extLst>
          </p:cNvPr>
          <p:cNvSpPr txBox="1"/>
          <p:nvPr/>
        </p:nvSpPr>
        <p:spPr>
          <a:xfrm>
            <a:off x="9414160" y="5214016"/>
            <a:ext cx="2418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Precio de salida en subasta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C108C3-4271-797A-DDCB-B8D892289087}"/>
              </a:ext>
            </a:extLst>
          </p:cNvPr>
          <p:cNvSpPr txBox="1"/>
          <p:nvPr/>
        </p:nvSpPr>
        <p:spPr>
          <a:xfrm>
            <a:off x="9400144" y="2465651"/>
            <a:ext cx="24032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35.915 €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D8AF8D1-7DD8-4360-CFF8-AF768F2F0D10}"/>
              </a:ext>
            </a:extLst>
          </p:cNvPr>
          <p:cNvSpPr txBox="1"/>
          <p:nvPr/>
        </p:nvSpPr>
        <p:spPr>
          <a:xfrm>
            <a:off x="9400144" y="4522432"/>
            <a:ext cx="23467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chemeClr val="accent1"/>
                </a:solidFill>
              </a:rPr>
              <a:t>24. 179€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BF0B6E4-A475-B070-C856-7DF92D49CB2A}"/>
              </a:ext>
            </a:extLst>
          </p:cNvPr>
          <p:cNvSpPr txBox="1"/>
          <p:nvPr/>
        </p:nvSpPr>
        <p:spPr>
          <a:xfrm>
            <a:off x="9278353" y="3180469"/>
            <a:ext cx="2554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/>
              <a:t>Valor de mercado (tasación)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6928F89-DE9E-15B3-1BA7-03E3EDB1B522}"/>
              </a:ext>
            </a:extLst>
          </p:cNvPr>
          <p:cNvSpPr txBox="1">
            <a:spLocks/>
          </p:cNvSpPr>
          <p:nvPr/>
        </p:nvSpPr>
        <p:spPr>
          <a:xfrm>
            <a:off x="8586216" y="45380"/>
            <a:ext cx="3483864" cy="15487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" sz="2400" b="1" dirty="0">
                <a:solidFill>
                  <a:schemeClr val="accent1"/>
                </a:solidFill>
              </a:rPr>
              <a:t>“El precio de subasta siempre está por debajo del valor de la tasación”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852806-282D-50AC-23F9-AEB5B42A99D4}"/>
              </a:ext>
            </a:extLst>
          </p:cNvPr>
          <p:cNvSpPr txBox="1"/>
          <p:nvPr/>
        </p:nvSpPr>
        <p:spPr>
          <a:xfrm>
            <a:off x="9477604" y="5882119"/>
            <a:ext cx="2452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chemeClr val="accent1"/>
                </a:solidFill>
              </a:rPr>
              <a:t>20% de descuento mediano</a:t>
            </a:r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3B99FA86-6FB1-A0A6-CC23-1183EC269365}"/>
              </a:ext>
            </a:extLst>
          </p:cNvPr>
          <p:cNvSpPr/>
          <p:nvPr/>
        </p:nvSpPr>
        <p:spPr>
          <a:xfrm>
            <a:off x="10287543" y="3674517"/>
            <a:ext cx="457200" cy="7490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F007A9ED-2C29-F845-DA28-FB36FB78784F}"/>
              </a:ext>
            </a:extLst>
          </p:cNvPr>
          <p:cNvSpPr/>
          <p:nvPr/>
        </p:nvSpPr>
        <p:spPr>
          <a:xfrm>
            <a:off x="9495336" y="5892598"/>
            <a:ext cx="45719" cy="2972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EA5E4B4-FABE-C474-817C-1DF3646A4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63" t="12421"/>
          <a:stretch>
            <a:fillRect/>
          </a:stretch>
        </p:blipFill>
        <p:spPr>
          <a:xfrm>
            <a:off x="172915" y="1737041"/>
            <a:ext cx="9236452" cy="432768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E265AA6-5A42-EC37-DA7E-405DD4EC5A6B}"/>
              </a:ext>
            </a:extLst>
          </p:cNvPr>
          <p:cNvSpPr txBox="1"/>
          <p:nvPr/>
        </p:nvSpPr>
        <p:spPr>
          <a:xfrm>
            <a:off x="9561212" y="3404829"/>
            <a:ext cx="2457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Un descuento alto puede indicar cargas ocultas (hipotecas, embargos) que el comprador hereda.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AE17BB0-DB91-CC97-E0C7-A09DAB9291C8}"/>
              </a:ext>
            </a:extLst>
          </p:cNvPr>
          <p:cNvSpPr/>
          <p:nvPr/>
        </p:nvSpPr>
        <p:spPr>
          <a:xfrm>
            <a:off x="9943731" y="1447448"/>
            <a:ext cx="1452694" cy="1499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8880BD-6EB8-1D2E-FEC6-415ED76904E2}"/>
              </a:ext>
            </a:extLst>
          </p:cNvPr>
          <p:cNvSpPr txBox="1"/>
          <p:nvPr/>
        </p:nvSpPr>
        <p:spPr>
          <a:xfrm>
            <a:off x="10177512" y="1562467"/>
            <a:ext cx="10342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92FF882-9E9E-D7D1-0F78-54717591F80F}"/>
              </a:ext>
            </a:extLst>
          </p:cNvPr>
          <p:cNvSpPr txBox="1"/>
          <p:nvPr/>
        </p:nvSpPr>
        <p:spPr>
          <a:xfrm>
            <a:off x="9992857" y="2424242"/>
            <a:ext cx="140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bg1"/>
                </a:solidFill>
              </a:rPr>
              <a:t>SUBASTAS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388D6EF-2B53-1A11-874D-96CFE60F9120}"/>
              </a:ext>
            </a:extLst>
          </p:cNvPr>
          <p:cNvSpPr/>
          <p:nvPr/>
        </p:nvSpPr>
        <p:spPr>
          <a:xfrm>
            <a:off x="587882" y="571719"/>
            <a:ext cx="1115079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r>
              <a:rPr lang="es-ES" sz="36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ubastas con &gt;50% de descuento son atractivas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EEFEC80-CA01-82A0-DA6A-9B83009D3030}"/>
              </a:ext>
            </a:extLst>
          </p:cNvPr>
          <p:cNvSpPr txBox="1"/>
          <p:nvPr/>
        </p:nvSpPr>
        <p:spPr>
          <a:xfrm>
            <a:off x="143017" y="-19855"/>
            <a:ext cx="3290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6"/>
                </a:solidFill>
              </a:rPr>
              <a:t>¿Oportunidad real?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687E90B-8D2A-51C6-6500-150C7B6A1158}"/>
              </a:ext>
            </a:extLst>
          </p:cNvPr>
          <p:cNvSpPr txBox="1"/>
          <p:nvPr/>
        </p:nvSpPr>
        <p:spPr>
          <a:xfrm>
            <a:off x="9856293" y="3053130"/>
            <a:ext cx="1867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FF0000"/>
                </a:solidFill>
              </a:rPr>
              <a:t>■ ■ </a:t>
            </a:r>
            <a:r>
              <a:rPr lang="es-ES" sz="2000" b="1" dirty="0">
                <a:solidFill>
                  <a:srgbClr val="FF0000"/>
                </a:solidFill>
              </a:rPr>
              <a:t>Atención</a:t>
            </a:r>
            <a:endParaRPr lang="es-ES" sz="1600" b="1" dirty="0">
              <a:solidFill>
                <a:srgbClr val="FF000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939C3E6-7F00-49F1-B3B6-F3CF65AF8A09}"/>
              </a:ext>
            </a:extLst>
          </p:cNvPr>
          <p:cNvSpPr txBox="1"/>
          <p:nvPr/>
        </p:nvSpPr>
        <p:spPr>
          <a:xfrm>
            <a:off x="9534101" y="5248431"/>
            <a:ext cx="237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B050"/>
                </a:solidFill>
              </a:rPr>
              <a:t>■ ■ </a:t>
            </a:r>
            <a:r>
              <a:rPr lang="es-ES" b="1" dirty="0">
                <a:solidFill>
                  <a:srgbClr val="00B050"/>
                </a:solidFill>
              </a:rPr>
              <a:t>Recomendación</a:t>
            </a:r>
            <a:endParaRPr lang="es-ES" sz="1400" b="1" dirty="0">
              <a:solidFill>
                <a:srgbClr val="00B05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9C2EB4F-70EA-65D9-1926-0B8D19B0656E}"/>
              </a:ext>
            </a:extLst>
          </p:cNvPr>
          <p:cNvSpPr txBox="1"/>
          <p:nvPr/>
        </p:nvSpPr>
        <p:spPr>
          <a:xfrm>
            <a:off x="9582282" y="5547617"/>
            <a:ext cx="2457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bg1"/>
                </a:solidFill>
              </a:rPr>
              <a:t>Revisar siempre la certificación de cargas antes de pujar.</a:t>
            </a:r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rama de flujo: tarjeta 18">
            <a:extLst>
              <a:ext uri="{FF2B5EF4-FFF2-40B4-BE49-F238E27FC236}">
                <a16:creationId xmlns:a16="http://schemas.microsoft.com/office/drawing/2014/main" id="{6F6E7D9F-39CB-9399-EEF3-D39CA0790EA9}"/>
              </a:ext>
            </a:extLst>
          </p:cNvPr>
          <p:cNvSpPr/>
          <p:nvPr/>
        </p:nvSpPr>
        <p:spPr>
          <a:xfrm>
            <a:off x="9695576" y="2565183"/>
            <a:ext cx="1635985" cy="805101"/>
          </a:xfrm>
          <a:prstGeom prst="flowChartPunchedCard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Diagrama de flujo: tarjeta 17">
            <a:extLst>
              <a:ext uri="{FF2B5EF4-FFF2-40B4-BE49-F238E27FC236}">
                <a16:creationId xmlns:a16="http://schemas.microsoft.com/office/drawing/2014/main" id="{5E72142D-535B-E83F-FA4D-9656375E20BE}"/>
              </a:ext>
            </a:extLst>
          </p:cNvPr>
          <p:cNvSpPr/>
          <p:nvPr/>
        </p:nvSpPr>
        <p:spPr>
          <a:xfrm>
            <a:off x="7431267" y="3670153"/>
            <a:ext cx="1571244" cy="818631"/>
          </a:xfrm>
          <a:prstGeom prst="flowChartPunchedCard">
            <a:avLst/>
          </a:prstGeom>
          <a:solidFill>
            <a:srgbClr val="FF53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Diagrama de flujo: tarjeta 16">
            <a:extLst>
              <a:ext uri="{FF2B5EF4-FFF2-40B4-BE49-F238E27FC236}">
                <a16:creationId xmlns:a16="http://schemas.microsoft.com/office/drawing/2014/main" id="{B786ADB5-46C4-D26D-D77F-80B821BD40AF}"/>
              </a:ext>
            </a:extLst>
          </p:cNvPr>
          <p:cNvSpPr/>
          <p:nvPr/>
        </p:nvSpPr>
        <p:spPr>
          <a:xfrm>
            <a:off x="7473478" y="1549283"/>
            <a:ext cx="1635985" cy="80510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C37A5E-B700-79CC-5A96-943754FFF9DF}"/>
              </a:ext>
            </a:extLst>
          </p:cNvPr>
          <p:cNvSpPr txBox="1"/>
          <p:nvPr/>
        </p:nvSpPr>
        <p:spPr>
          <a:xfrm>
            <a:off x="2173899" y="1171478"/>
            <a:ext cx="1639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6"/>
                </a:solidFill>
              </a:rPr>
              <a:t>Confirmado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496CCF-1EE2-CE2B-F6DF-AD93E84F78BF}"/>
              </a:ext>
            </a:extLst>
          </p:cNvPr>
          <p:cNvSpPr txBox="1"/>
          <p:nvPr/>
        </p:nvSpPr>
        <p:spPr>
          <a:xfrm>
            <a:off x="676529" y="1542821"/>
            <a:ext cx="55470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1"/>
                </a:solidFill>
              </a:rPr>
              <a:t>El 89.4 % de las subastas analizadas tienen un descuento sobre tasación inferior al 50% , salen a más del 50% de su valor de mercado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3152DC-7B07-47DF-BBE1-F0702694E417}"/>
              </a:ext>
            </a:extLst>
          </p:cNvPr>
          <p:cNvSpPr txBox="1"/>
          <p:nvPr/>
        </p:nvSpPr>
        <p:spPr>
          <a:xfrm>
            <a:off x="860439" y="3740838"/>
            <a:ext cx="4510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Descuento estándar: 20% (mínimo legal)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Depósito siempre = 5% del valor subasta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Duración estándar: 20 días (legal)</a:t>
            </a:r>
          </a:p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109CD7E-B9B2-3F70-AC93-B0B11895609C}"/>
              </a:ext>
            </a:extLst>
          </p:cNvPr>
          <p:cNvSpPr txBox="1"/>
          <p:nvPr/>
        </p:nvSpPr>
        <p:spPr>
          <a:xfrm>
            <a:off x="7490298" y="986812"/>
            <a:ext cx="3858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Descuento medio estable por mes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C6E364-0270-ADF0-59C4-69A8687C77B9}"/>
              </a:ext>
            </a:extLst>
          </p:cNvPr>
          <p:cNvSpPr txBox="1"/>
          <p:nvPr/>
        </p:nvSpPr>
        <p:spPr>
          <a:xfrm>
            <a:off x="7590646" y="1681320"/>
            <a:ext cx="1406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</a:rPr>
              <a:t>31.3%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0C66D4-AB41-A4D1-1B45-AEACC94FBCC0}"/>
              </a:ext>
            </a:extLst>
          </p:cNvPr>
          <p:cNvSpPr txBox="1"/>
          <p:nvPr/>
        </p:nvSpPr>
        <p:spPr>
          <a:xfrm>
            <a:off x="7431267" y="2378422"/>
            <a:ext cx="1883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accent1"/>
                </a:solidFill>
              </a:rPr>
              <a:t>Octubre 2025</a:t>
            </a:r>
            <a:r>
              <a:rPr lang="es-ES" sz="1600" b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76B17A9-D9EB-0C69-4FCF-48E884349BC9}"/>
              </a:ext>
            </a:extLst>
          </p:cNvPr>
          <p:cNvSpPr txBox="1"/>
          <p:nvPr/>
        </p:nvSpPr>
        <p:spPr>
          <a:xfrm>
            <a:off x="9924881" y="2617852"/>
            <a:ext cx="1406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/>
              <a:t>27.6%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56BCCC-E841-7F6F-24CF-6D72CE6A063A}"/>
              </a:ext>
            </a:extLst>
          </p:cNvPr>
          <p:cNvSpPr txBox="1"/>
          <p:nvPr/>
        </p:nvSpPr>
        <p:spPr>
          <a:xfrm>
            <a:off x="9510184" y="3355693"/>
            <a:ext cx="2235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B0F0"/>
                </a:solidFill>
              </a:rPr>
              <a:t>Noviembre 2025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5F37BA3-C4B6-6BDF-DD19-4A6BA8CE5D4F}"/>
              </a:ext>
            </a:extLst>
          </p:cNvPr>
          <p:cNvSpPr txBox="1"/>
          <p:nvPr/>
        </p:nvSpPr>
        <p:spPr>
          <a:xfrm>
            <a:off x="7596357" y="3800810"/>
            <a:ext cx="1406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/>
              <a:t>32.9%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AE7B6AF-BEEC-4A26-CC19-E96A9D779737}"/>
              </a:ext>
            </a:extLst>
          </p:cNvPr>
          <p:cNvSpPr txBox="1"/>
          <p:nvPr/>
        </p:nvSpPr>
        <p:spPr>
          <a:xfrm>
            <a:off x="7237304" y="4479502"/>
            <a:ext cx="2077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FF5353"/>
                </a:solidFill>
              </a:rPr>
              <a:t>Diciembre 2025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2697EC8-9AF3-709F-C41F-AE889690F795}"/>
              </a:ext>
            </a:extLst>
          </p:cNvPr>
          <p:cNvSpPr txBox="1"/>
          <p:nvPr/>
        </p:nvSpPr>
        <p:spPr>
          <a:xfrm>
            <a:off x="360744" y="5565850"/>
            <a:ext cx="9564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</a:rPr>
              <a:t>Conclusión: Las subastas publicadas en el BOE descuentos reales</a:t>
            </a:r>
          </a:p>
        </p:txBody>
      </p:sp>
    </p:spTree>
    <p:extLst>
      <p:ext uri="{BB962C8B-B14F-4D97-AF65-F5344CB8AC3E}">
        <p14:creationId xmlns:p14="http://schemas.microsoft.com/office/powerpoint/2010/main" val="70536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7063" y="5855703"/>
            <a:ext cx="1832255" cy="356220"/>
          </a:xfrm>
        </p:spPr>
        <p:txBody>
          <a:bodyPr rtlCol="0">
            <a:normAutofit/>
          </a:bodyPr>
          <a:lstStyle/>
          <a:p>
            <a:pPr rtl="0"/>
            <a:r>
              <a:rPr lang="es-ES" u="sng" dirty="0">
                <a:solidFill>
                  <a:schemeClr val="bg2"/>
                </a:solidFill>
              </a:rPr>
              <a:t>Nadia llamoca </a:t>
            </a:r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{A10A1690-9020-439E-8ACF-F045118E8D9B}TF9cd6fad6-da1d-416b-8dc8-a086cd1045b10fc9cf83_win32-66f3597afc39</Template>
  <TotalTime>707</TotalTime>
  <Words>308</Words>
  <Application>Microsoft Office PowerPoint</Application>
  <PresentationFormat>Panorámica</PresentationFormat>
  <Paragraphs>64</Paragraphs>
  <Slides>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Calibri</vt:lpstr>
      <vt:lpstr>Gill Sans MT</vt:lpstr>
      <vt:lpstr>Wingdings</vt:lpstr>
      <vt:lpstr>Wingdings 2</vt:lpstr>
      <vt:lpstr>Personalizado</vt:lpstr>
      <vt:lpstr>Presentación de PowerPoint</vt:lpstr>
      <vt:lpstr>“inmuebles subastados en el portal del boe salen con descuento sobre su tasación inferior al 50%"</vt:lpstr>
      <vt:lpstr>Presentación de PowerPoint</vt:lpstr>
      <vt:lpstr>dio</vt:lpstr>
      <vt:lpstr>Comunicaciones digitales</vt:lpstr>
      <vt:lpstr>Presentación de PowerPoint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NADIA DOMITILA LLAMOCA CORDOVA</dc:creator>
  <cp:lastModifiedBy>ALUMNO - NADIA DOMITILA LLAMOCA CORDOVA</cp:lastModifiedBy>
  <cp:revision>4</cp:revision>
  <dcterms:created xsi:type="dcterms:W3CDTF">2026-04-13T00:41:25Z</dcterms:created>
  <dcterms:modified xsi:type="dcterms:W3CDTF">2026-04-13T13:00:00Z</dcterms:modified>
</cp:coreProperties>
</file>